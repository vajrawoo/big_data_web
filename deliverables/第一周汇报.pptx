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58" r:id="rId6"/>
    <p:sldId id="260" r:id="rId7"/>
    <p:sldId id="259" r:id="rId8"/>
    <p:sldId id="261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473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评论数</c:v>
          </c:tx>
          <c:marker>
            <c:symbol val="none"/>
          </c:marker>
          <c:cat>
            <c:numLit>
              <c:formatCode>General</c:formatCode>
              <c:ptCount val="10"/>
              <c:pt idx="0">
                <c:v>2014</c:v>
              </c:pt>
              <c:pt idx="1">
                <c:v>2015</c:v>
              </c:pt>
              <c:pt idx="2">
                <c:v>2016</c:v>
              </c:pt>
              <c:pt idx="3">
                <c:v>2017</c:v>
              </c:pt>
              <c:pt idx="4">
                <c:v>2018</c:v>
              </c:pt>
              <c:pt idx="5">
                <c:v>2019</c:v>
              </c:pt>
              <c:pt idx="6">
                <c:v>2020</c:v>
              </c:pt>
              <c:pt idx="7">
                <c:v>2021</c:v>
              </c:pt>
              <c:pt idx="8">
                <c:v>2022</c:v>
              </c:pt>
              <c:pt idx="9">
                <c:v>2023</c:v>
              </c:pt>
            </c:numLit>
          </c:cat>
          <c:val>
            <c:numLit>
              <c:formatCode>General</c:formatCode>
              <c:ptCount val="10"/>
              <c:pt idx="0">
                <c:v>77353</c:v>
              </c:pt>
              <c:pt idx="1">
                <c:v>122696</c:v>
              </c:pt>
              <c:pt idx="2">
                <c:v>153916</c:v>
              </c:pt>
              <c:pt idx="3">
                <c:v>169785</c:v>
              </c:pt>
              <c:pt idx="4">
                <c:v>189599</c:v>
              </c:pt>
              <c:pt idx="5">
                <c:v>261004</c:v>
              </c:pt>
              <c:pt idx="6">
                <c:v>311251</c:v>
              </c:pt>
              <c:pt idx="7">
                <c:v>345120</c:v>
              </c:pt>
              <c:pt idx="8">
                <c:v>299487</c:v>
              </c:pt>
              <c:pt idx="9">
                <c:v>125053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647-446F-AA74-F6B2943D9B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1E2DE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开场直接交代研究对象和三项业务问题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D:/CS_Projects/big_data_web/specs/001-merchant-review-insights/spec.md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这三点就是项目的业务故事，不再额外寻找第四个故事。</a:t>
            </a:r>
          </a:p>
          <a:p>
            <a:endParaRPr/>
          </a:p>
          <a:p>
            <a:r>
              <a:t>[Sources]</a:t>
            </a:r>
          </a:p>
          <a:p>
            <a:r>
              <a:t>- https://sell.amazon.com/blog/customer-review-insights</a:t>
            </a:r>
          </a:p>
          <a:p>
            <a:r>
              <a:t>- https://www.amazon.science/publications/why-do-customers-return-products-using-customer-reviews-to-predict-product-return-behaviors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四块分工就是初版结构，不再额外扩展。正式分工表补成员姓名、具体工作和贡献自评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D:/CS_Projects/big_data_web/教师要求/大数据综合实践课程内容说明.pdf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A5B3-7793-6329-88F1-61036364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19EE5-68A0-766A-4A4A-275857B7B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6A725-8B06-0DE7-B1C3-A42C53E1D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四块分工就是初版结构，不再额外扩展。正式分工表补成员姓名、具体工作和贡献自评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D:/CS_Projects/big_data_web/教师要求/大数据综合实践课程内容说明.pdf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D8649-E795-A23A-3E38-5A325B1DE6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9719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说明我们做的是决策支持，不是普通情感分析页面。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强调数据与选题的匹配：评论正文用于文本挖掘，parent_asin支持商品层分析，时间字段支持趋势。2023年数据仅到9月。</a:t>
            </a:r>
          </a:p>
          <a:p>
            <a:endParaRPr/>
          </a:p>
          <a:p>
            <a:r>
              <a:t>[Sources]</a:t>
            </a:r>
          </a:p>
          <a:p>
            <a:r>
              <a:t>- https://amazon-reviews-2023.github.io/</a:t>
            </a:r>
          </a:p>
          <a:p>
            <a:r>
              <a:t>- D:/CS_Projects/big_data_web/docs/runs/evidence/silver-full-quality.json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沿这条路径讲完整业务过程。演示案例会按统一数据条件选取。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这页只讲实际做过的清洗。不要讲样本重复运行过程。价格、店铺等元数据缺失被规范为 null 并记录问题，不填零；空正文保留评分统计资格但不进入正文分析。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D:/CS_Projects/big_data_web/docs/runs/silver-cleaning-2026-09-03.md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课程允许AI辅助，但要求SDD规约与实际实现一致，并能解释每一层的设计决策。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D:/CS_Projects/big_data_web/教师要求/大数据综合实践课程内容说明.pdf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S14-200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ell.amazon.com/blog/customer-review-insights" TargetMode="External"/><Relationship Id="rId4" Type="http://schemas.openxmlformats.org/officeDocument/2006/relationships/hyperlink" Target="https://aclanthology.org/S19-2151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7D7ADA4-4A0C-45FA-862B-9584FCFA065E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590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endParaRPr sz="36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F40A0-BD16-4CB0-B69A-6D4AC992AA0A}"/>
              </a:ext>
            </a:extLst>
          </p:cNvPr>
          <p:cNvSpPr>
            <a:spLocks noGrp="1"/>
          </p:cNvSpPr>
          <p:nvPr/>
        </p:nvSpPr>
        <p:spPr>
          <a:xfrm>
            <a:off x="541681" y="1885950"/>
            <a:ext cx="6530009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4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Amazon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家电评论</a:t>
            </a:r>
          </a:p>
          <a:p>
            <a:pPr algn="l">
              <a:defRPr sz="4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00" b="1" dirty="0" err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需求洞察与质量问题预警</a:t>
            </a:r>
            <a:endParaRPr sz="4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60A3F57-A074-BB45-3DAB-414B48153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124" y="1407552"/>
            <a:ext cx="4750076" cy="315782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45D3F00-AE43-8502-16DE-675154A54C82}"/>
              </a:ext>
            </a:extLst>
          </p:cNvPr>
          <p:cNvSpPr>
            <a:spLocks noGrp="1"/>
          </p:cNvSpPr>
          <p:nvPr/>
        </p:nvSpPr>
        <p:spPr>
          <a:xfrm>
            <a:off x="623265" y="3429000"/>
            <a:ext cx="5777120" cy="585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050" b="1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小组成员：吴周昊 尹庆杰 谷奕城 洪世烨</a:t>
            </a:r>
            <a:endParaRPr sz="2000" b="1" dirty="0">
              <a:solidFill>
                <a:srgbClr val="69738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78480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09999E-18D9-4C45-B370-351EDFC6C3A8}"/>
              </a:ext>
            </a:extLst>
          </p:cNvPr>
          <p:cNvSpPr>
            <a:spLocks noGrp="1"/>
          </p:cNvSpPr>
          <p:nvPr/>
        </p:nvSpPr>
        <p:spPr>
          <a:xfrm>
            <a:off x="1162050" y="4476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endParaRPr sz="900" b="1" dirty="0">
              <a:solidFill>
                <a:srgbClr val="6973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FE0D0B-9743-4F04-8D1B-5BF7C58C0CB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F773C0-3912-42E7-9D0B-439EF98E484D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44D966-9B20-4214-8243-370F15DC5365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876550" cy="47625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B66BBF-6F3F-4BDE-B7A9-EFD82E5CEB55}"/>
              </a:ext>
            </a:extLst>
          </p:cNvPr>
          <p:cNvSpPr>
            <a:spLocks noGrp="1"/>
          </p:cNvSpPr>
          <p:nvPr/>
        </p:nvSpPr>
        <p:spPr>
          <a:xfrm>
            <a:off x="685800" y="3941802"/>
            <a:ext cx="3000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ts val="1800"/>
              </a:lnSpc>
              <a:defRPr sz="1350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</a:rPr>
              <a:t>Amazon 目前仍把减少退货、改善商品信息和使用支持作为实际工作内容。Amazon Sustainability</a:t>
            </a:r>
            <a:br>
              <a:rPr lang="zh-CN" altLang="zh-CN" sz="1400" dirty="0">
                <a:solidFill>
                  <a:srgbClr val="697386"/>
                </a:solidFill>
                <a:latin typeface="Microsoft YaHei"/>
              </a:rPr>
            </a:br>
            <a:endParaRPr sz="1400" b="0" dirty="0">
              <a:solidFill>
                <a:srgbClr val="69738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0A2BB5-D2E1-4CE8-A1B0-E622D6AA54C9}"/>
              </a:ext>
            </a:extLst>
          </p:cNvPr>
          <p:cNvSpPr>
            <a:spLocks noGrp="1"/>
          </p:cNvSpPr>
          <p:nvPr/>
        </p:nvSpPr>
        <p:spPr>
          <a:xfrm>
            <a:off x="4333875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FDD665-0360-454F-949D-ADC83B97D033}"/>
              </a:ext>
            </a:extLst>
          </p:cNvPr>
          <p:cNvSpPr>
            <a:spLocks noGrp="1"/>
          </p:cNvSpPr>
          <p:nvPr/>
        </p:nvSpPr>
        <p:spPr>
          <a:xfrm>
            <a:off x="4333875" y="2781300"/>
            <a:ext cx="2876550" cy="47625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3274F8-8951-48C1-BD98-530357C1261E}"/>
              </a:ext>
            </a:extLst>
          </p:cNvPr>
          <p:cNvSpPr>
            <a:spLocks noGrp="1"/>
          </p:cNvSpPr>
          <p:nvPr/>
        </p:nvSpPr>
        <p:spPr>
          <a:xfrm>
            <a:off x="4333875" y="3016508"/>
            <a:ext cx="3000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000" b="1" dirty="0">
                <a:solidFill>
                  <a:srgbClr val="142033"/>
                </a:solidFill>
                <a:latin typeface="Microsoft YaHei"/>
              </a:rPr>
              <a:t>具体问题通常发现得太晚</a:t>
            </a:r>
            <a:br>
              <a:rPr lang="zh-CN" altLang="zh-CN" sz="2000" b="1" dirty="0">
                <a:solidFill>
                  <a:srgbClr val="142033"/>
                </a:solidFill>
                <a:latin typeface="Microsoft YaHei"/>
              </a:rPr>
            </a:br>
            <a:endParaRPr sz="2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929C42-D4B2-4705-B7AE-C0295655F277}"/>
              </a:ext>
            </a:extLst>
          </p:cNvPr>
          <p:cNvSpPr>
            <a:spLocks noGrp="1"/>
          </p:cNvSpPr>
          <p:nvPr/>
        </p:nvSpPr>
        <p:spPr>
          <a:xfrm>
            <a:off x="4333875" y="3905250"/>
            <a:ext cx="3000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lvl="0">
              <a:lnSpc>
                <a:spcPts val="1800"/>
              </a:lnSpc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Amazon Science </a:t>
            </a:r>
            <a:r>
              <a:rPr lang="zh-CN" altLang="zh-CN" sz="1400" dirty="0"/>
              <a:t>的论文指出，卖家往往要等到大量商品已经退回后，才能获得较明确的退货原因。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A02C8E-FA0A-42B5-8E2E-65F55FE6E404}"/>
              </a:ext>
            </a:extLst>
          </p:cNvPr>
          <p:cNvSpPr>
            <a:spLocks noGrp="1"/>
          </p:cNvSpPr>
          <p:nvPr/>
        </p:nvSpPr>
        <p:spPr>
          <a:xfrm>
            <a:off x="7981950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267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267E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9ADF67-4D1D-4845-AC81-FCD4E5CA6B77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876550" cy="47625"/>
          </a:xfrm>
          <a:prstGeom prst="rect">
            <a:avLst/>
          </a:prstGeom>
          <a:solidFill>
            <a:srgbClr val="3267E3"/>
          </a:solidFill>
          <a:ln w="0">
            <a:solidFill>
              <a:srgbClr val="3267E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9D7363-D563-4089-8202-90A5BDE50471}"/>
              </a:ext>
            </a:extLst>
          </p:cNvPr>
          <p:cNvSpPr>
            <a:spLocks noGrp="1"/>
          </p:cNvSpPr>
          <p:nvPr/>
        </p:nvSpPr>
        <p:spPr>
          <a:xfrm>
            <a:off x="7981950" y="3005137"/>
            <a:ext cx="3000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000" b="1" dirty="0">
                <a:solidFill>
                  <a:srgbClr val="142033"/>
                </a:solidFill>
                <a:latin typeface="Microsoft YaHei"/>
              </a:rPr>
              <a:t>评论可能包含更早的问题信号</a:t>
            </a:r>
            <a:br>
              <a:rPr lang="zh-CN" altLang="zh-CN" sz="2000" b="1" dirty="0">
                <a:solidFill>
                  <a:srgbClr val="142033"/>
                </a:solidFill>
                <a:latin typeface="Microsoft YaHei"/>
              </a:rPr>
            </a:br>
            <a:endParaRPr sz="2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DD394A-BBB1-47B5-BAD4-6C21D7C316B5}"/>
              </a:ext>
            </a:extLst>
          </p:cNvPr>
          <p:cNvSpPr>
            <a:spLocks noGrp="1"/>
          </p:cNvSpPr>
          <p:nvPr/>
        </p:nvSpPr>
        <p:spPr>
          <a:xfrm>
            <a:off x="7981950" y="3905250"/>
            <a:ext cx="3000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lvl="0">
              <a:lnSpc>
                <a:spcPts val="1800"/>
              </a:lnSpc>
            </a:pPr>
            <a:r>
              <a:rPr lang="zh-CN" altLang="zh-CN" sz="1400" dirty="0"/>
              <a:t>同一篇论文研究了能否利用顾客评论，提前识别与商品退货相关的具体问题。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0F25E9-4F95-450A-AEA6-AD7A61A49D75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334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/>
            <a:r>
              <a:rPr lang="zh-CN" altLang="zh-CN" sz="2000" b="1" dirty="0"/>
              <a:t>问题有成本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 → 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原因发现较晚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 → 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评论可能提供提前分析的线索</a:t>
            </a:r>
            <a:endParaRPr lang="zh-CN" altLang="zh-CN" sz="2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E072D4-562D-F478-436C-926B98075067}"/>
              </a:ext>
            </a:extLst>
          </p:cNvPr>
          <p:cNvSpPr txBox="1"/>
          <p:nvPr/>
        </p:nvSpPr>
        <p:spPr>
          <a:xfrm>
            <a:off x="685800" y="480910"/>
            <a:ext cx="107342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核心问题：</a:t>
            </a:r>
            <a:r>
              <a:rPr lang="zh-CN" altLang="zh-CN" sz="2400" b="1" dirty="0">
                <a:solidFill>
                  <a:srgbClr val="142033"/>
                </a:solidFill>
                <a:latin typeface="Microsoft YaHei"/>
              </a:rPr>
              <a:t>商品出现持续负面反馈时，如何尽早从大量评论中定位具体原因，并为商品改进提供可以核实的依据？</a:t>
            </a:r>
          </a:p>
          <a:p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0740BC-CCB5-1A45-B7CA-CCDC5BEDF23C}"/>
              </a:ext>
            </a:extLst>
          </p:cNvPr>
          <p:cNvSpPr txBox="1"/>
          <p:nvPr/>
        </p:nvSpPr>
        <p:spPr>
          <a:xfrm>
            <a:off x="619538" y="2894052"/>
            <a:ext cx="29428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142033"/>
                </a:solidFill>
                <a:latin typeface="Microsoft YaHei"/>
              </a:rPr>
              <a:t>商品退货和负面体验会带来经营与环境成本</a:t>
            </a:r>
            <a:br>
              <a:rPr lang="zh-CN" altLang="en-US" sz="2000" b="1" dirty="0">
                <a:solidFill>
                  <a:srgbClr val="142033"/>
                </a:solidFill>
                <a:latin typeface="Microsoft YaHei"/>
              </a:rPr>
            </a:br>
            <a:endParaRPr lang="zh-CN" altLang="en-US" sz="2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904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582A6DA-BADA-42CB-8A18-2EE6EE95574C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现有方案</a:t>
            </a:r>
            <a:endParaRPr sz="285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142A8B-D214-4150-A329-8952069C5C5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3540404-B200-8F79-8810-9DA3D42F3F45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10A1FE6-849C-954D-8D33-0AEC7BED6724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876550" cy="47625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30DEAA7-2448-881E-2BB0-82371D5AA861}"/>
              </a:ext>
            </a:extLst>
          </p:cNvPr>
          <p:cNvSpPr>
            <a:spLocks noGrp="1"/>
          </p:cNvSpPr>
          <p:nvPr/>
        </p:nvSpPr>
        <p:spPr>
          <a:xfrm>
            <a:off x="4333875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8A0D88F-FCC8-A6C1-A240-76705178BF63}"/>
              </a:ext>
            </a:extLst>
          </p:cNvPr>
          <p:cNvSpPr>
            <a:spLocks noGrp="1"/>
          </p:cNvSpPr>
          <p:nvPr/>
        </p:nvSpPr>
        <p:spPr>
          <a:xfrm>
            <a:off x="4333875" y="2781300"/>
            <a:ext cx="2876550" cy="47625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ACDFFD-C39A-F5B9-04E1-E8760BC9955B}"/>
              </a:ext>
            </a:extLst>
          </p:cNvPr>
          <p:cNvSpPr>
            <a:spLocks noGrp="1"/>
          </p:cNvSpPr>
          <p:nvPr/>
        </p:nvSpPr>
        <p:spPr>
          <a:xfrm>
            <a:off x="4333875" y="3016508"/>
            <a:ext cx="3543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025" b="1" dirty="0">
                <a:solidFill>
                  <a:srgbClr val="142033"/>
                </a:solidFill>
                <a:latin typeface="Microsoft YaHei"/>
              </a:rPr>
              <a:t>评论文本挖掘与机器学习</a:t>
            </a:r>
            <a:endParaRPr sz="2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0CC001C-E2FD-E7A4-9449-9B3464D443FA}"/>
              </a:ext>
            </a:extLst>
          </p:cNvPr>
          <p:cNvSpPr>
            <a:spLocks noGrp="1"/>
          </p:cNvSpPr>
          <p:nvPr/>
        </p:nvSpPr>
        <p:spPr>
          <a:xfrm>
            <a:off x="7981950" y="20193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3267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3267E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9727D25-A182-97B0-4D26-8D71E2835BA9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2876550" cy="47625"/>
          </a:xfrm>
          <a:prstGeom prst="rect">
            <a:avLst/>
          </a:prstGeom>
          <a:solidFill>
            <a:srgbClr val="3267E3"/>
          </a:solidFill>
          <a:ln w="0">
            <a:solidFill>
              <a:srgbClr val="3267E3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F2F87E4-8AFE-ECF2-DD7C-0C9F725BB775}"/>
              </a:ext>
            </a:extLst>
          </p:cNvPr>
          <p:cNvSpPr>
            <a:spLocks noGrp="1"/>
          </p:cNvSpPr>
          <p:nvPr/>
        </p:nvSpPr>
        <p:spPr>
          <a:xfrm>
            <a:off x="7981950" y="3005137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025" b="1" dirty="0">
                <a:solidFill>
                  <a:srgbClr val="142033"/>
                </a:solidFill>
                <a:latin typeface="Microsoft YaHei"/>
              </a:rPr>
              <a:t>Amazon Science</a:t>
            </a:r>
            <a:r>
              <a:rPr lang="en-US" altLang="zh-CN" sz="2025" b="1" dirty="0">
                <a:solidFill>
                  <a:srgbClr val="142033"/>
                </a:solidFill>
                <a:latin typeface="Microsoft YaHei"/>
              </a:rPr>
              <a:t> research</a:t>
            </a:r>
            <a:br>
              <a:rPr lang="zh-CN" altLang="zh-CN" sz="2000" b="1" dirty="0">
                <a:solidFill>
                  <a:srgbClr val="142033"/>
                </a:solidFill>
                <a:latin typeface="Microsoft YaHei"/>
              </a:rPr>
            </a:br>
            <a:endParaRPr sz="20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0A95523-F2D8-E002-FB68-C16CF6E4DAA2}"/>
              </a:ext>
            </a:extLst>
          </p:cNvPr>
          <p:cNvSpPr>
            <a:spLocks noGrp="1"/>
          </p:cNvSpPr>
          <p:nvPr/>
        </p:nvSpPr>
        <p:spPr>
          <a:xfrm>
            <a:off x="8005141" y="4008358"/>
            <a:ext cx="3000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lvl="0">
              <a:lnSpc>
                <a:spcPts val="2100"/>
              </a:lnSpc>
            </a:pPr>
            <a:r>
              <a:rPr lang="zh-CN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该方法依赖 Amazon 内部退货标签，侧重事后退货原因预测；没有持续监测评论中具体问题的时间变化，也没有形成自动预警、需求发现、原文追踪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zh-CN" altLang="zh-CN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ECC673F-0ED4-176E-4D50-9A5B47C630D9}"/>
              </a:ext>
            </a:extLst>
          </p:cNvPr>
          <p:cNvSpPr txBox="1"/>
          <p:nvPr/>
        </p:nvSpPr>
        <p:spPr>
          <a:xfrm>
            <a:off x="619538" y="2894052"/>
            <a:ext cx="3209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142033"/>
                </a:solidFill>
                <a:latin typeface="Microsoft YaHei"/>
              </a:rPr>
              <a:t>星级统计与人工阅读评论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33925AA-5949-ADF4-EE12-D8B67AEC1923}"/>
              </a:ext>
            </a:extLst>
          </p:cNvPr>
          <p:cNvSpPr txBox="1"/>
          <p:nvPr/>
        </p:nvSpPr>
        <p:spPr>
          <a:xfrm>
            <a:off x="619538" y="4008358"/>
            <a:ext cx="2771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评论量大时，人工难以持续归纳问题和变化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3C8C7AF-7E3C-48F6-0362-6998A65F3FE6}"/>
              </a:ext>
            </a:extLst>
          </p:cNvPr>
          <p:cNvSpPr txBox="1"/>
          <p:nvPr/>
        </p:nvSpPr>
        <p:spPr>
          <a:xfrm>
            <a:off x="4210051" y="3988742"/>
            <a:ext cx="3314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研究结果通常需要结合具体商品、数据范围和原文证据解释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418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B216B-3FFF-27CC-1216-146AE9CA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70FF597-A690-06A0-8D00-179BF516DF7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现有痛点</a:t>
            </a:r>
            <a:endParaRPr sz="285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4ECE89-3CD0-EF1A-EE5C-D9375229187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643AE29-351D-DA43-33DE-64D6BF0C0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50197"/>
              </p:ext>
            </p:extLst>
          </p:nvPr>
        </p:nvGraphicFramePr>
        <p:xfrm>
          <a:off x="631723" y="1915324"/>
          <a:ext cx="10515600" cy="42259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960861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71693449"/>
                    </a:ext>
                  </a:extLst>
                </a:gridCol>
              </a:tblGrid>
              <a:tr h="48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参考依据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477808"/>
                  </a:ext>
                </a:extLst>
              </a:tr>
              <a:tr h="1086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把抱怨分析到具体方面，而不只分好评差评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属性级情感分析研究专门处理“用户在评价哪个方面、对这个方面持什么态度”。因此我们参考它识别具体问题。</a:t>
                      </a:r>
                      <a:r>
                        <a:rPr lang="zh-CN" sz="1600" dirty="0">
                          <a:hlinkClick r:id="rId3"/>
                        </a:rPr>
                        <a:t>SemEval 2014论文</a:t>
                      </a:r>
                      <a:endParaRPr lang="zh-C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696510"/>
                  </a:ext>
                </a:extLst>
              </a:tr>
              <a:tr h="10866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把建议与一般评价分开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建议挖掘研究将“识别评论中的建议句”作为独立任务。因此我们参考它整理用户明确提出的改进建议，而不是从每条抱怨中猜需求。</a:t>
                      </a:r>
                      <a:r>
                        <a:rPr lang="zh-CN" sz="1600" dirty="0">
                          <a:hlinkClick r:id="rId4"/>
                        </a:rPr>
                        <a:t>SemEval 2019论文</a:t>
                      </a:r>
                      <a:endParaRPr lang="zh-C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460180"/>
                  </a:ext>
                </a:extLst>
              </a:tr>
              <a:tr h="1569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比较时间变化，而不只看历史总量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Amazon官方材料明确举例：某个月负面评论激增，可能与当期配送或制造问题有关，观察趋势有助于排查。因此我们设计月度比较；自动提醒是我们在此基础上增加的机制。</a:t>
                      </a:r>
                      <a:r>
                        <a:rPr lang="zh-CN" sz="1600" dirty="0">
                          <a:hlinkClick r:id="rId5"/>
                        </a:rPr>
                        <a:t>官方文章</a:t>
                      </a:r>
                      <a:endParaRPr lang="zh-C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858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64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3BE4174-B10F-417B-85C4-8A35D12B5647}"/>
              </a:ext>
            </a:extLst>
          </p:cNvPr>
          <p:cNvSpPr>
            <a:spLocks noGrp="1"/>
          </p:cNvSpPr>
          <p:nvPr/>
        </p:nvSpPr>
        <p:spPr>
          <a:xfrm>
            <a:off x="397566" y="292376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42033"/>
                </a:solidFill>
                <a:latin typeface="Microsoft YaHei"/>
              </a:rPr>
              <a:t>解决思路</a:t>
            </a:r>
            <a:r>
              <a:rPr lang="zh-CN" altLang="en-US" sz="2850" b="1" dirty="0">
                <a:solidFill>
                  <a:srgbClr val="142033"/>
                </a:solidFill>
                <a:latin typeface="Microsoft YaHei"/>
              </a:rPr>
              <a:t>：</a:t>
            </a:r>
            <a:r>
              <a:rPr lang="zh-CN" altLang="zh-CN" sz="2850" b="1" dirty="0">
                <a:solidFill>
                  <a:srgbClr val="142033"/>
                </a:solidFill>
                <a:latin typeface="Microsoft YaHei"/>
              </a:rPr>
              <a:t>从评论线索到商品改进依据</a:t>
            </a:r>
            <a:endParaRPr sz="285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0413F4-DA29-555A-30C1-F47829509DBC}"/>
              </a:ext>
            </a:extLst>
          </p:cNvPr>
          <p:cNvSpPr>
            <a:spLocks noGrp="1"/>
          </p:cNvSpPr>
          <p:nvPr/>
        </p:nvSpPr>
        <p:spPr>
          <a:xfrm>
            <a:off x="397566" y="873401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425D9BD-E6F2-5669-3275-9F3340195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178641"/>
              </p:ext>
            </p:extLst>
          </p:nvPr>
        </p:nvGraphicFramePr>
        <p:xfrm>
          <a:off x="1332672" y="1244109"/>
          <a:ext cx="9526656" cy="43697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4020">
                  <a:extLst>
                    <a:ext uri="{9D8B030D-6E8A-4147-A177-3AD203B41FA5}">
                      <a16:colId xmlns:a16="http://schemas.microsoft.com/office/drawing/2014/main" val="2660627150"/>
                    </a:ext>
                  </a:extLst>
                </a:gridCol>
                <a:gridCol w="3564549">
                  <a:extLst>
                    <a:ext uri="{9D8B030D-6E8A-4147-A177-3AD203B41FA5}">
                      <a16:colId xmlns:a16="http://schemas.microsoft.com/office/drawing/2014/main" val="1373904060"/>
                    </a:ext>
                  </a:extLst>
                </a:gridCol>
                <a:gridCol w="3578087">
                  <a:extLst>
                    <a:ext uri="{9D8B030D-6E8A-4147-A177-3AD203B41FA5}">
                      <a16:colId xmlns:a16="http://schemas.microsoft.com/office/drawing/2014/main" val="2378760050"/>
                    </a:ext>
                  </a:extLst>
                </a:gridCol>
              </a:tblGrid>
              <a:tr h="403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要解决的问题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具体实现方法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采用的具体技术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69135"/>
                  </a:ext>
                </a:extLst>
              </a:tr>
              <a:tr h="991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监测具体问题的时间变化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按商品、问题类型和月份分组，计算每月的问题数量、问题占比和低评分率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Spark SQL 分组聚合：groupBy 按月统计；Window 窗口函数计算环比变化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331982"/>
                  </a:ext>
                </a:extLst>
              </a:tr>
              <a:tr h="991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问题异常增长时自动预警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将本月问题占比与历史平均水平比较；达到最低样本量且增长超过阈值时生成预警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Spark Window 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建立</a:t>
                      </a: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平均历史基线；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使用增长率、标准差和最低样本量判断异常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61827"/>
                  </a:ext>
                </a:extLst>
              </a:tr>
              <a:tr h="991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发现用户明确提出的需求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提取包含“希望、需要、应该增加”等含义的句子，判断是否为真实需求，再合并语义相近的需求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DistilBERT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或</a:t>
                      </a:r>
                      <a:r>
                        <a:rPr lang="en-US" altLang="zh-CN" sz="14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TextCNN</a:t>
                      </a: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等</a:t>
                      </a: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文本分类判断需求；MiniLM 句向量＋聚类合并相似需求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367485"/>
                  </a:ext>
                </a:extLst>
              </a:tr>
              <a:tr h="991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从分析结果返回评论原文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每项问题、需求和预警保存对应的 review_id；用户点击结果后，根据编号查询原始评论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稳定 ID 关联保存关系；MongoDB 索引查询定位评论；FastAPI 接口返回原文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87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56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005C292-2414-4A1A-97D4-C9AA06787D5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8BE9E9-E9BC-46E6-A9E4-C6036236541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2,128,605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139DCA-2724-426B-8B80-AFB14F654EDC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条家电历史评论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9CADE0-1917-4CED-B0F0-E11CEFEEC630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2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 dirty="0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94,327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AC2CBC-6643-46FD-98C0-CB4F1E31460C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条商品元数据</a:t>
            </a:r>
            <a:endParaRPr sz="1425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47A83B-82D9-4C2B-8FBB-9747A9A2E54F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Microsoft YaHei"/>
                <a:ea typeface="Microsoft YaHei"/>
                <a:cs typeface="Microsoft YaHei"/>
              </a:rPr>
              <a:t>2000.10 — 2023.09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522F14-C254-4D64-93D3-55318672A15E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评论覆盖时间</a:t>
            </a:r>
            <a:endParaRPr sz="12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C29C35-204C-46B3-BAF7-1F1D054273FD}"/>
              </a:ext>
            </a:extLst>
          </p:cNvPr>
          <p:cNvSpPr>
            <a:spLocks noGrp="1"/>
          </p:cNvSpPr>
          <p:nvPr/>
        </p:nvSpPr>
        <p:spPr>
          <a:xfrm>
            <a:off x="4400550" y="1905000"/>
            <a:ext cx="9525" cy="38576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220FFB-1E26-449F-9658-E56D575D8BD4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年度评论量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4810125" y="2400300"/>
          <a:ext cx="633412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E4D3C881-067D-D80D-E4B2-8F03FCCDA198}"/>
              </a:ext>
            </a:extLst>
          </p:cNvPr>
          <p:cNvSpPr txBox="1"/>
          <p:nvPr/>
        </p:nvSpPr>
        <p:spPr>
          <a:xfrm>
            <a:off x="612498" y="446421"/>
            <a:ext cx="10820399" cy="861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00"/>
              </a:lnSpc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数据集：</a:t>
            </a:r>
            <a:r>
              <a:rPr lang="en-US" altLang="zh-CN" sz="2400" b="1" dirty="0">
                <a:solidFill>
                  <a:srgbClr val="142033"/>
                </a:solidFill>
                <a:latin typeface="Microsoft YaHei"/>
              </a:rPr>
              <a:t>UC San Diego McAuley Lab </a:t>
            </a:r>
            <a:r>
              <a:rPr lang="zh-CN" altLang="en-US" sz="2400" b="1" dirty="0">
                <a:solidFill>
                  <a:srgbClr val="142033"/>
                </a:solidFill>
                <a:latin typeface="Microsoft YaHei"/>
              </a:rPr>
              <a:t>于</a:t>
            </a:r>
            <a:r>
              <a:rPr lang="en-US" altLang="zh-CN" sz="2400" b="1" dirty="0">
                <a:solidFill>
                  <a:srgbClr val="142033"/>
                </a:solidFill>
                <a:latin typeface="Microsoft YaHei"/>
              </a:rPr>
              <a:t>2023</a:t>
            </a:r>
            <a:r>
              <a:rPr lang="zh-CN" altLang="en-US" sz="2400" b="1" dirty="0">
                <a:solidFill>
                  <a:srgbClr val="142033"/>
                </a:solidFill>
                <a:latin typeface="Microsoft YaHei"/>
              </a:rPr>
              <a:t>年采集和发布，包含 </a:t>
            </a:r>
            <a:r>
              <a:rPr lang="en-US" altLang="zh-CN" sz="2400" b="1" dirty="0">
                <a:solidFill>
                  <a:srgbClr val="142033"/>
                </a:solidFill>
                <a:latin typeface="Microsoft YaHei"/>
              </a:rPr>
              <a:t>Amazon </a:t>
            </a:r>
            <a:r>
              <a:rPr lang="zh-CN" altLang="en-US" sz="2400" b="1" dirty="0">
                <a:solidFill>
                  <a:srgbClr val="142033"/>
                </a:solidFill>
                <a:latin typeface="Microsoft YaHei"/>
              </a:rPr>
              <a:t>用户评论与商品元数据</a:t>
            </a:r>
            <a:endParaRPr lang="zh-CN" altLang="en-US" sz="24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9938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C5C8E9DA-A778-134B-47A1-BB4EB5E87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99976"/>
              </p:ext>
            </p:extLst>
          </p:nvPr>
        </p:nvGraphicFramePr>
        <p:xfrm>
          <a:off x="417855" y="1341784"/>
          <a:ext cx="5560530" cy="3409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3510">
                  <a:extLst>
                    <a:ext uri="{9D8B030D-6E8A-4147-A177-3AD203B41FA5}">
                      <a16:colId xmlns:a16="http://schemas.microsoft.com/office/drawing/2014/main" val="1020250853"/>
                    </a:ext>
                  </a:extLst>
                </a:gridCol>
                <a:gridCol w="1853510">
                  <a:extLst>
                    <a:ext uri="{9D8B030D-6E8A-4147-A177-3AD203B41FA5}">
                      <a16:colId xmlns:a16="http://schemas.microsoft.com/office/drawing/2014/main" val="3993251053"/>
                    </a:ext>
                  </a:extLst>
                </a:gridCol>
                <a:gridCol w="1853510">
                  <a:extLst>
                    <a:ext uri="{9D8B030D-6E8A-4147-A177-3AD203B41FA5}">
                      <a16:colId xmlns:a16="http://schemas.microsoft.com/office/drawing/2014/main" val="3122137648"/>
                    </a:ext>
                  </a:extLst>
                </a:gridCol>
              </a:tblGrid>
              <a:tr h="41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原始字段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3982375"/>
                  </a:ext>
                </a:extLst>
              </a:tr>
              <a:tr h="723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评论内容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title、text、images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评论标题、正文、用户上传图片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56099"/>
                  </a:ext>
                </a:extLst>
              </a:tr>
              <a:tr h="723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商品与用户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asin、parent_asin、user_id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商品变体、父商品、匿名用户编号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603667"/>
                  </a:ext>
                </a:extLst>
              </a:tr>
              <a:tr h="723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评价信息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rating、helpful_vote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1～5星评分、有用票数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566031"/>
                  </a:ext>
                </a:extLst>
              </a:tr>
              <a:tr h="41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购买信息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verified_purchase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是否为验证购买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84824"/>
                  </a:ext>
                </a:extLst>
              </a:tr>
              <a:tr h="413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评论发布时间戳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99499"/>
                  </a:ext>
                </a:extLst>
              </a:tr>
            </a:tbl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51CF51DA-8509-13BD-0912-1CFC59DA27FA}"/>
              </a:ext>
            </a:extLst>
          </p:cNvPr>
          <p:cNvSpPr txBox="1"/>
          <p:nvPr/>
        </p:nvSpPr>
        <p:spPr>
          <a:xfrm>
            <a:off x="374374" y="5912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评论数据 Reviews</a:t>
            </a:r>
            <a:br>
              <a:rPr lang="zh-CN" altLang="zh-CN" dirty="0"/>
            </a:br>
            <a:r>
              <a:rPr lang="zh-CN" altLang="zh-CN" dirty="0">
                <a:latin typeface="+mn-lt"/>
              </a:rPr>
              <a:t>2,128,605 条 </a:t>
            </a:r>
            <a:r>
              <a:rPr lang="zh-CN" altLang="en-US" dirty="0">
                <a:latin typeface="+mn-lt"/>
              </a:rPr>
              <a:t>，</a:t>
            </a:r>
            <a:r>
              <a:rPr lang="zh-CN" altLang="zh-CN" dirty="0">
                <a:latin typeface="+mn-lt"/>
              </a:rPr>
              <a:t>10个字段</a:t>
            </a:r>
            <a:endParaRPr lang="zh-CN" altLang="zh-CN" dirty="0"/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8B83FE6C-15D9-65ED-2AF2-902DF9DED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779285"/>
              </p:ext>
            </p:extLst>
          </p:nvPr>
        </p:nvGraphicFramePr>
        <p:xfrm>
          <a:off x="6654247" y="1341784"/>
          <a:ext cx="4850295" cy="4446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6765">
                  <a:extLst>
                    <a:ext uri="{9D8B030D-6E8A-4147-A177-3AD203B41FA5}">
                      <a16:colId xmlns:a16="http://schemas.microsoft.com/office/drawing/2014/main" val="1269315066"/>
                    </a:ext>
                  </a:extLst>
                </a:gridCol>
                <a:gridCol w="1616765">
                  <a:extLst>
                    <a:ext uri="{9D8B030D-6E8A-4147-A177-3AD203B41FA5}">
                      <a16:colId xmlns:a16="http://schemas.microsoft.com/office/drawing/2014/main" val="3361703927"/>
                    </a:ext>
                  </a:extLst>
                </a:gridCol>
                <a:gridCol w="1616765">
                  <a:extLst>
                    <a:ext uri="{9D8B030D-6E8A-4147-A177-3AD203B41FA5}">
                      <a16:colId xmlns:a16="http://schemas.microsoft.com/office/drawing/2014/main" val="446148095"/>
                    </a:ext>
                  </a:extLst>
                </a:gridCol>
              </a:tblGrid>
              <a:tr h="25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原始字段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含义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323830"/>
                  </a:ext>
                </a:extLst>
              </a:tr>
              <a:tr h="62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商品身份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parent_asin、title、store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父商品编号、商品标题、店铺名称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246074"/>
                  </a:ext>
                </a:extLst>
              </a:tr>
              <a:tr h="438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分类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main_category、categories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主分类、层级分类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093094"/>
                  </a:ext>
                </a:extLst>
              </a:tr>
              <a:tr h="62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商品介绍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features、description、details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卖点、描述、规格属性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969792"/>
                  </a:ext>
                </a:extLst>
              </a:tr>
              <a:tr h="62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价格与评分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price、average_rating、rating_number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价格、页面平均分、评分数量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380951"/>
                  </a:ext>
                </a:extLst>
              </a:tr>
              <a:tr h="438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多媒体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images、videos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商品图片和视频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448908"/>
                  </a:ext>
                </a:extLst>
              </a:tr>
              <a:tr h="623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其他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bought_together、subtitle、author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组合购买、子标题、作者信息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63630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5AB3C64D-E795-D8E0-B533-82949748F5E8}"/>
              </a:ext>
            </a:extLst>
          </p:cNvPr>
          <p:cNvSpPr txBox="1"/>
          <p:nvPr/>
        </p:nvSpPr>
        <p:spPr>
          <a:xfrm>
            <a:off x="6824458" y="5912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商品元数据 Metadata</a:t>
            </a:r>
            <a:br>
              <a:rPr lang="zh-CN" altLang="zh-CN" dirty="0"/>
            </a:br>
            <a:r>
              <a:rPr lang="zh-CN" altLang="zh-CN" dirty="0">
                <a:latin typeface="+mn-lt"/>
              </a:rPr>
              <a:t>94,327 条 </a:t>
            </a:r>
            <a:r>
              <a:rPr lang="zh-CN" altLang="en-US" dirty="0"/>
              <a:t>，</a:t>
            </a:r>
            <a:r>
              <a:rPr lang="zh-CN" altLang="zh-CN" dirty="0">
                <a:latin typeface="+mn-lt"/>
              </a:rPr>
              <a:t>16个实际出现字段</a:t>
            </a:r>
            <a:endParaRPr lang="zh-CN" altLang="zh-CN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A4333E-E487-DF02-2A5C-2FD5B10011C5}"/>
              </a:ext>
            </a:extLst>
          </p:cNvPr>
          <p:cNvSpPr txBox="1"/>
          <p:nvPr/>
        </p:nvSpPr>
        <p:spPr>
          <a:xfrm>
            <a:off x="417855" y="5146884"/>
            <a:ext cx="6458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b="1" dirty="0">
                <a:latin typeface="+mn-lt"/>
              </a:rPr>
              <a:t>评论表.parent_asin = 商品元数据表.parent_asin</a:t>
            </a:r>
            <a:endParaRPr lang="zh-CN" altLang="zh-CN" b="1" dirty="0">
              <a:latin typeface="Courier New" panose="020703090202050204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7E0BBE-2B8C-F5EF-4E16-FBA2A794FEEA}"/>
              </a:ext>
            </a:extLst>
          </p:cNvPr>
          <p:cNvSpPr txBox="1"/>
          <p:nvPr/>
        </p:nvSpPr>
        <p:spPr>
          <a:xfrm>
            <a:off x="417855" y="5670313"/>
            <a:ext cx="4793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+mn-lt"/>
              </a:rPr>
              <a:t>asin</a:t>
            </a:r>
            <a:r>
              <a:rPr lang="zh-CN" altLang="zh-CN" b="1" dirty="0"/>
              <a:t> 标识具体商品变体，</a:t>
            </a:r>
            <a:r>
              <a:rPr lang="zh-CN" altLang="zh-CN" b="1" dirty="0">
                <a:latin typeface="+mn-lt"/>
              </a:rPr>
              <a:t>parent_asin</a:t>
            </a:r>
            <a:r>
              <a:rPr lang="zh-CN" altLang="zh-CN" b="1" dirty="0"/>
              <a:t> 标识同一商品系列，也是评论与商品元数据的关联键。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3642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8424B60-9191-4C28-8969-826F3299337D}"/>
              </a:ext>
            </a:extLst>
          </p:cNvPr>
          <p:cNvSpPr>
            <a:spLocks noGrp="1"/>
          </p:cNvSpPr>
          <p:nvPr/>
        </p:nvSpPr>
        <p:spPr>
          <a:xfrm>
            <a:off x="452120" y="4127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  <a:endParaRPr sz="285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D9D416-84BD-4DD8-A9D9-2DAEF02D7942}"/>
              </a:ext>
            </a:extLst>
          </p:cNvPr>
          <p:cNvSpPr>
            <a:spLocks noGrp="1"/>
          </p:cNvSpPr>
          <p:nvPr/>
        </p:nvSpPr>
        <p:spPr>
          <a:xfrm>
            <a:off x="452120" y="1117600"/>
            <a:ext cx="10820400" cy="9525"/>
          </a:xfrm>
          <a:prstGeom prst="rect">
            <a:avLst/>
          </a:prstGeom>
          <a:solidFill>
            <a:srgbClr val="D8D9D4"/>
          </a:solidFill>
          <a:ln w="0">
            <a:solidFill>
              <a:srgbClr val="D8D9D4"/>
            </a:solidFill>
            <a:prstDash val="solid"/>
          </a:ln>
        </p:spPr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A94171-A8E2-DDFD-47EC-980DD42EA444}"/>
              </a:ext>
            </a:extLst>
          </p:cNvPr>
          <p:cNvSpPr txBox="1"/>
          <p:nvPr/>
        </p:nvSpPr>
        <p:spPr>
          <a:xfrm>
            <a:off x="452120" y="18577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01 原始数据校验</a:t>
            </a:r>
          </a:p>
          <a:p>
            <a:pPr>
              <a:buNone/>
            </a:pPr>
            <a:r>
              <a:rPr lang="zh-CN" altLang="zh-CN" dirty="0"/>
              <a:t>校验文件大小与 SHA-256</a:t>
            </a:r>
            <a:br>
              <a:rPr lang="zh-CN" altLang="zh-CN" dirty="0"/>
            </a:br>
            <a:r>
              <a:rPr lang="zh-CN" altLang="zh-CN" dirty="0"/>
              <a:t>原始 gzip 只读保存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C892F76-F92E-9D08-8197-DE40A3871EB3}"/>
              </a:ext>
            </a:extLst>
          </p:cNvPr>
          <p:cNvSpPr txBox="1"/>
          <p:nvPr/>
        </p:nvSpPr>
        <p:spPr>
          <a:xfrm>
            <a:off x="4074795" y="183574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b="1" dirty="0"/>
              <a:t>02 字段统一</a:t>
            </a:r>
          </a:p>
          <a:p>
            <a:pPr>
              <a:buNone/>
            </a:pPr>
            <a:r>
              <a:rPr lang="zh-CN" altLang="zh-CN" sz="1800" dirty="0"/>
              <a:t>解析 JSON，校验评分和布尔值</a:t>
            </a:r>
            <a:br>
              <a:rPr lang="zh-CN" altLang="zh-CN" sz="1800" dirty="0"/>
            </a:br>
            <a:r>
              <a:rPr lang="zh-CN" altLang="zh-CN" sz="1800" dirty="0"/>
              <a:t>时间戳转换为 UTC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D39179A-C755-47F0-8BE4-E66A759ABFF4}"/>
              </a:ext>
            </a:extLst>
          </p:cNvPr>
          <p:cNvSpPr txBox="1"/>
          <p:nvPr/>
        </p:nvSpPr>
        <p:spPr>
          <a:xfrm>
            <a:off x="8176260" y="18577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b="1" dirty="0"/>
              <a:t>03 文本与重复处理</a:t>
            </a:r>
          </a:p>
          <a:p>
            <a:pPr>
              <a:buNone/>
            </a:pPr>
            <a:r>
              <a:rPr lang="zh-CN" altLang="zh-CN" sz="1800" dirty="0"/>
              <a:t>保留评论原文，规范文本格式</a:t>
            </a:r>
            <a:br>
              <a:rPr lang="zh-CN" altLang="zh-CN" sz="1800" dirty="0"/>
            </a:br>
            <a:r>
              <a:rPr lang="zh-CN" altLang="zh-CN" sz="1800" dirty="0"/>
              <a:t>标记空正文和重复记录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2AA5377-440C-645D-2457-FD433A98DAA6}"/>
              </a:ext>
            </a:extLst>
          </p:cNvPr>
          <p:cNvSpPr txBox="1"/>
          <p:nvPr/>
        </p:nvSpPr>
        <p:spPr>
          <a:xfrm>
            <a:off x="452120" y="3370322"/>
            <a:ext cx="6667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b="1" dirty="0"/>
              <a:t>04 商品信息关联</a:t>
            </a:r>
          </a:p>
          <a:p>
            <a:pPr>
              <a:buNone/>
            </a:pPr>
            <a:r>
              <a:rPr lang="zh-CN" altLang="zh-CN" sz="1800" dirty="0"/>
              <a:t>使用 </a:t>
            </a:r>
            <a:r>
              <a:rPr lang="zh-CN" altLang="zh-CN" sz="1800" dirty="0">
                <a:latin typeface="+mn-lt"/>
              </a:rPr>
              <a:t>parent_asin</a:t>
            </a:r>
            <a:r>
              <a:rPr lang="zh-CN" altLang="zh-CN" sz="1800" dirty="0"/>
              <a:t> 合并商品信息</a:t>
            </a:r>
            <a:br>
              <a:rPr lang="zh-CN" altLang="zh-CN" sz="1800" dirty="0"/>
            </a:br>
            <a:r>
              <a:rPr lang="zh-CN" altLang="zh-CN" sz="1800" dirty="0"/>
              <a:t>检查关联前后评论数量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76BCE2F-434F-13C4-81E5-93E6B334F5D1}"/>
              </a:ext>
            </a:extLst>
          </p:cNvPr>
          <p:cNvSpPr txBox="1"/>
          <p:nvPr/>
        </p:nvSpPr>
        <p:spPr>
          <a:xfrm>
            <a:off x="4120515" y="3370322"/>
            <a:ext cx="6667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b="1" dirty="0"/>
              <a:t>05 数据存储</a:t>
            </a:r>
          </a:p>
          <a:p>
            <a:pPr>
              <a:buNone/>
            </a:pPr>
            <a:r>
              <a:rPr lang="zh-CN" altLang="zh-CN" sz="1800" dirty="0"/>
              <a:t>清洗结果写入 Parquet</a:t>
            </a:r>
            <a:br>
              <a:rPr lang="zh-CN" altLang="zh-CN" sz="1800" dirty="0"/>
            </a:br>
            <a:r>
              <a:rPr lang="zh-CN" altLang="zh-CN" sz="1800" dirty="0"/>
              <a:t>保存评论编号、来源行和处理批次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04DF23C-37AC-D428-454E-7201978DA8C6}"/>
              </a:ext>
            </a:extLst>
          </p:cNvPr>
          <p:cNvSpPr txBox="1"/>
          <p:nvPr/>
        </p:nvSpPr>
        <p:spPr>
          <a:xfrm>
            <a:off x="8191500" y="3360162"/>
            <a:ext cx="7127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06 </a:t>
            </a:r>
            <a:r>
              <a:rPr lang="zh-CN" altLang="zh-CN" b="1" dirty="0"/>
              <a:t>清洗结果</a:t>
            </a:r>
            <a:endParaRPr lang="en-US" altLang="zh-CN" b="1" dirty="0"/>
          </a:p>
          <a:p>
            <a:r>
              <a:rPr lang="zh-CN" altLang="zh-CN" dirty="0"/>
              <a:t>2,128,605条评论全部保留</a:t>
            </a:r>
            <a:endParaRPr lang="en-US" altLang="zh-CN" dirty="0"/>
          </a:p>
          <a:p>
            <a:r>
              <a:rPr lang="zh-CN" altLang="zh-CN" dirty="0"/>
              <a:t>商品关联成功率100%</a:t>
            </a:r>
            <a:endParaRPr lang="en-US" altLang="zh-CN" dirty="0"/>
          </a:p>
          <a:p>
            <a:r>
              <a:rPr lang="zh-CN" altLang="zh-CN" dirty="0"/>
              <a:t>空正文与重复记录均已标记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5075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BE2AB7-F38B-4EB4-8648-3AE3D123D49A}"/>
              </a:ext>
            </a:extLst>
          </p:cNvPr>
          <p:cNvSpPr>
            <a:spLocks noGrp="1"/>
          </p:cNvSpPr>
          <p:nvPr/>
        </p:nvSpPr>
        <p:spPr>
          <a:xfrm>
            <a:off x="3717566" y="2838450"/>
            <a:ext cx="5227651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5400" b="1" dirty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请老师批评指正</a:t>
            </a:r>
            <a:endParaRPr sz="5400" b="1" dirty="0">
              <a:solidFill>
                <a:srgbClr val="14203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23517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2244</Words>
  <Application>Microsoft Office PowerPoint</Application>
  <DocSecurity>0</DocSecurity>
  <PresentationFormat>宽屏</PresentationFormat>
  <Paragraphs>164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Microsoft YaHei</vt:lpstr>
      <vt:lpstr>Microsoft YaHei</vt:lpstr>
      <vt:lpstr>Calibri</vt:lpstr>
      <vt:lpstr>Courier New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ZHOUHAO WU</cp:lastModifiedBy>
  <cp:revision>17</cp:revision>
  <dcterms:created xsi:type="dcterms:W3CDTF">2026-09-03T09:05:06Z</dcterms:created>
  <dcterms:modified xsi:type="dcterms:W3CDTF">2026-09-04T00:46:48Z</dcterms:modified>
</cp:coreProperties>
</file>