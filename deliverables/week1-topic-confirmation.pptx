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8ca2f28d6d4360" /><Relationship Type="http://schemas.openxmlformats.org/officeDocument/2006/relationships/extended-properties" Target="/docProps/app.xml" Id="R12cfabb97d144689" /><Relationship Type="http://schemas.openxmlformats.org/officeDocument/2006/relationships/officeDocument" Target="/ppt/presentation.xml" Id="R04bc0939374345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6dd297954d483d"/>
  </p:sldMasterIdLst>
  <p:notesMasterIdLst>
    <p:notesMasterId xmlns:r="http://schemas.openxmlformats.org/officeDocument/2006/relationships" r:id="R593ec93d5d1546fe"/>
  </p:notesMasterIdLst>
  <p:sldIdLst>
    <p:sldId xmlns:r="http://schemas.openxmlformats.org/officeDocument/2006/relationships" id="256" r:id="Rba850dbf0d2c4f14"/>
    <p:sldId xmlns:r="http://schemas.openxmlformats.org/officeDocument/2006/relationships" id="257" r:id="Rf540159403344e20"/>
    <p:sldId xmlns:r="http://schemas.openxmlformats.org/officeDocument/2006/relationships" id="258" r:id="R370ee587d7834ea0"/>
    <p:sldId xmlns:r="http://schemas.openxmlformats.org/officeDocument/2006/relationships" id="259" r:id="R7b3c2d3dd90f4b76"/>
    <p:sldId xmlns:r="http://schemas.openxmlformats.org/officeDocument/2006/relationships" id="260" r:id="R890ff9640b89422b"/>
    <p:sldId xmlns:r="http://schemas.openxmlformats.org/officeDocument/2006/relationships" id="261" r:id="R2b4913cf2239400e"/>
    <p:sldId xmlns:r="http://schemas.openxmlformats.org/officeDocument/2006/relationships" id="262" r:id="Rf4abf8c1d1674ab7"/>
    <p:sldId xmlns:r="http://schemas.openxmlformats.org/officeDocument/2006/relationships" id="263" r:id="Rc864953650414605"/>
    <p:sldId xmlns:r="http://schemas.openxmlformats.org/officeDocument/2006/relationships" id="264" r:id="R35aab30bf6eb433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ba94e36cfb84805" /><Relationship Type="http://schemas.openxmlformats.org/officeDocument/2006/relationships/slideMaster" Target="/ppt/slideMasters/slideMaster1.xml" Id="R496dd297954d483d" /><Relationship Type="http://schemas.openxmlformats.org/officeDocument/2006/relationships/notesMaster" Target="/ppt/notesMasters/notesMaster1.xml" Id="R593ec93d5d1546fe" /><Relationship Type="http://schemas.openxmlformats.org/officeDocument/2006/relationships/presProps" Target="/ppt/presProps.xml" Id="Rebc8df4523bb4db9" /><Relationship Type="http://schemas.openxmlformats.org/officeDocument/2006/relationships/tableStyles" Target="/ppt/tableStyles.xml" Id="Ra4ee013d32f449fe" /><Relationship Type="http://schemas.openxmlformats.org/officeDocument/2006/relationships/slide" Target="/ppt/slides/slide1.xml" Id="Rba850dbf0d2c4f14" /><Relationship Type="http://schemas.openxmlformats.org/officeDocument/2006/relationships/slide" Target="/ppt/slides/slide2.xml" Id="Rf540159403344e20" /><Relationship Type="http://schemas.openxmlformats.org/officeDocument/2006/relationships/slide" Target="/ppt/slides/slide3.xml" Id="R370ee587d7834ea0" /><Relationship Type="http://schemas.openxmlformats.org/officeDocument/2006/relationships/slide" Target="/ppt/slides/slide4.xml" Id="R7b3c2d3dd90f4b76" /><Relationship Type="http://schemas.openxmlformats.org/officeDocument/2006/relationships/slide" Target="/ppt/slides/slide5.xml" Id="R890ff9640b89422b" /><Relationship Type="http://schemas.openxmlformats.org/officeDocument/2006/relationships/slide" Target="/ppt/slides/slide6.xml" Id="R2b4913cf2239400e" /><Relationship Type="http://schemas.openxmlformats.org/officeDocument/2006/relationships/slide" Target="/ppt/slides/slide7.xml" Id="Rf4abf8c1d1674ab7" /><Relationship Type="http://schemas.openxmlformats.org/officeDocument/2006/relationships/slide" Target="/ppt/slides/slide8.xml" Id="Rc864953650414605" /><Relationship Type="http://schemas.openxmlformats.org/officeDocument/2006/relationships/slide" Target="/ppt/slides/slide9.xml" Id="R35aab30bf6eb43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08c09ff90a41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4fd045067f4894" /><Relationship Type="http://schemas.openxmlformats.org/officeDocument/2006/relationships/notesMaster" Target="/ppt/notesMasters/notesMaster1.xml" Id="R768ca6024f8d406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c7937336af84aff" /><Relationship Type="http://schemas.openxmlformats.org/officeDocument/2006/relationships/notesMaster" Target="/ppt/notesMasters/notesMaster1.xml" Id="R4cf7b48df5e046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5b14b96d84f416a" /><Relationship Type="http://schemas.openxmlformats.org/officeDocument/2006/relationships/notesMaster" Target="/ppt/notesMasters/notesMaster1.xml" Id="R349e4c3879714c4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1d739b2fbbb4418" /><Relationship Type="http://schemas.openxmlformats.org/officeDocument/2006/relationships/notesMaster" Target="/ppt/notesMasters/notesMaster1.xml" Id="R34b1ddf98e164e0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74725d55874cda" /><Relationship Type="http://schemas.openxmlformats.org/officeDocument/2006/relationships/notesMaster" Target="/ppt/notesMasters/notesMaster1.xml" Id="R704bbd48d8a4462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dda35f542bc409c" /><Relationship Type="http://schemas.openxmlformats.org/officeDocument/2006/relationships/notesMaster" Target="/ppt/notesMasters/notesMaster1.xml" Id="Rf49c7af69f0b446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54dc30d16e040eb" /><Relationship Type="http://schemas.openxmlformats.org/officeDocument/2006/relationships/notesMaster" Target="/ppt/notesMasters/notesMaster1.xml" Id="R3451b171178f49d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8dc3068fc304019" /><Relationship Type="http://schemas.openxmlformats.org/officeDocument/2006/relationships/notesMaster" Target="/ppt/notesMasters/notesMaster1.xml" Id="R76187be2a5854c7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f06d81d79204d15" /><Relationship Type="http://schemas.openxmlformats.org/officeDocument/2006/relationships/notesMaster" Target="/ppt/notesMasters/notesMaster1.xml" Id="R4809c69dbf4d47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开场只说清项目对象、数据规模和本次确认目的。不要在标题页解释技术栈。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D:/CS_Projects/big_data_web/specs/001-merchant-review-insights/spec.md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这里正式撤回此前把 Amazon 已有评论分析工具当作未解决问题证据的表述。论文说明业务难点，不能推导为 Amazon 在 2026 年缺少某项功能。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https://www.amazon.science/publications/why-do-customers-return-products-using-customer-reviews-to-predict-product-return-behaviors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强调项目比普通词频或情感看板多做了哪些决策支持。避免使用‘行业首创’等无法验证的表述。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D:/CS_Projects/big_data_web/specs/001-merchant-review-insights/spec.md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这是老师偏好的完整业务过程。现在的数据支持家电运营场景；具体演示商品要在语言、时间覆盖和商品群画像完成后按统一规则选取。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D:/CS_Projects/big_data_web/specs/001-merchant-review-insights/spec.md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课程文档对文档类数据的最低规模为一万条。发布主页给出约数，本项目使用本机核验后的精确行数。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https://amazon-reviews-2023.github.io/</a:t>
            </a:r>
          </a:p>
          <a:p xmlns:a="http://schemas.openxmlformats.org/drawingml/2006/main">
            <a:r>
              <a:t>- D:/CS_Projects/big_data_web/教师要求/大数据综合实践课程内容说明.pdf</a:t>
            </a:r>
          </a:p>
          <a:p xmlns:a="http://schemas.openxmlformats.org/drawingml/2006/main">
            <a:r>
              <a:t>- D:/CS_Projects/big_data_web/docs/runs/silver-cleaning-2026-09-03.md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这是课程规定四层结构在本项目中的具体映射。教师若追问，应沿一条评论说明它如何存档、清洗、聚合、查询和展示。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D:/CS_Projects/big_data_web/教师要求/大数据综合实践课程内容说明.pdf</a:t>
            </a:r>
          </a:p>
          <a:p xmlns:a="http://schemas.openxmlformats.org/drawingml/2006/main">
            <a:r>
              <a:t>- D:/CS_Projects/big_data_web/specs/001-merchant-review-insights/plan.md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环境只讲配置结论，不展示安装日志。清洗只讲最能证明可信性的数字；重复、空正文等详细质量表放备份材料。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D:/CS_Projects/big_data_web/docs/runs/environment-2026-09-03.md</a:t>
            </a:r>
          </a:p>
          <a:p xmlns:a="http://schemas.openxmlformats.org/drawingml/2006/main">
            <a:r>
              <a:t>- D:/CS_Projects/big_data_web/docs/runs/silver-cleaning-2026-09-03.md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课程明确允许 Vibe Coding，但要求核心设计自主、SDD 文档与实际实现一致，并能在答辩中解释设计决策。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D:/CS_Projects/big_data_web/教师要求/大数据综合实践课程内容说明.pdf</a:t>
            </a:r>
          </a:p>
          <a:p xmlns:a="http://schemas.openxmlformats.org/drawingml/2006/main">
            <a:r>
              <a:t>- D:/CS_Projects/big_data_web/specs/001-merchant-review-insights/spec.md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第5天教师要求确认选题、初版分工和数据来源。成员姓名与贡献占比应放正式分工表；本页说明模块边界。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D:/CS_Projects/big_data_web/教师要求/大数据综合实践课程内容说明.pdf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159aab84cf4cb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4f6b1cb36a4d6d" /><Relationship Type="http://schemas.openxmlformats.org/officeDocument/2006/relationships/slideLayout" Target="/ppt/slideLayouts/slideLayout1.xml" Id="Re79398502a99416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9398502a99416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a2d4269b5043ca" /><Relationship Type="http://schemas.openxmlformats.org/officeDocument/2006/relationships/notesSlide" Target="/ppt/notesSlides/notesSlide1.xml" Id="Rb7152bc2f11541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7c98627a714088" /><Relationship Type="http://schemas.openxmlformats.org/officeDocument/2006/relationships/notesSlide" Target="/ppt/notesSlides/notesSlide2.xml" Id="R61a03bd9402d4d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10a220ab614f96" /><Relationship Type="http://schemas.openxmlformats.org/officeDocument/2006/relationships/notesSlide" Target="/ppt/notesSlides/notesSlide3.xml" Id="Rfba95470c2244aa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87033cbdfd41f0" /><Relationship Type="http://schemas.openxmlformats.org/officeDocument/2006/relationships/notesSlide" Target="/ppt/notesSlides/notesSlide4.xml" Id="R06259df8e6074bc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3f05b47ffc484d" /><Relationship Type="http://schemas.openxmlformats.org/officeDocument/2006/relationships/notesSlide" Target="/ppt/notesSlides/notesSlide5.xml" Id="R103223a8f1884f3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01f998ff454bef" /><Relationship Type="http://schemas.openxmlformats.org/officeDocument/2006/relationships/notesSlide" Target="/ppt/notesSlides/notesSlide6.xml" Id="Re2ca4f715c4d464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8b66dd0ae2413e" /><Relationship Type="http://schemas.openxmlformats.org/officeDocument/2006/relationships/notesSlide" Target="/ppt/notesSlides/notesSlide7.xml" Id="R4dede19c4ad748f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9cb54778cb478e" /><Relationship Type="http://schemas.openxmlformats.org/officeDocument/2006/relationships/notesSlide" Target="/ppt/notesSlides/notesSlide8.xml" Id="R76dcb585721d45d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7327798a1e44a2" /><Relationship Type="http://schemas.openxmlformats.org/officeDocument/2006/relationships/notesSlide" Target="/ppt/notesSlides/notesSlide9.xml" Id="Rbb4f7fa515a5452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2D7B1B-0771-40BE-92F7-DE1DCFE3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FF99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48771D-9C21-4678-90BA-E467B01DD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858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Amazon 家电评论</a:t>
            </a:r>
          </a:p>
          <a:p xmlns:a="http://schemas.openxmlformats.org/drawingml/2006/main">
            <a:pPr algn="l">
              <a:defRPr sz="39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需求洞察与质量问题预警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460770-680F-4C9E-A82C-C60D967C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71850"/>
            <a:ext cx="828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从 213 万条历史评论，形成可核查的商品改进依据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E27541-FEAC-4AEC-83E8-39318873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054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A6A6"/>
                </a:solidFill>
                <a:latin typeface="Microsoft YaHei"/>
                <a:ea typeface="Microsoft YaHei"/>
                <a:cs typeface="Microsoft YaHei"/>
              </a:rPr>
              <a:t>第一周 · 选题确认 / 项目范围 / 数据来源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DC1684-19C6-4172-933D-98BB5995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524500"/>
            <a:ext cx="19335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BIG DATA WEB</a:t>
            </a:r>
          </a:p>
        </p:txBody>
      </p:sp>
    </p:spTree>
    <p:extLst>
      <p:ext uri="{BB962C8B-B14F-4D97-AF65-F5344CB8AC3E}">
        <p14:creationId xmlns:p14="http://schemas.microsoft.com/office/powerpoint/2010/main" val="8766174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2CDB38-DBB4-470E-9DC9-1B003D6B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rPr>
              <a:t>WEEK 1 · TOPIC CONFIRMATION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36EB2E-ABCC-46EC-9A23-F5E410072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问题不在于缺少评论，而在于太晚看清具体原因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072C83-8157-4D8E-81DC-411AA7D7B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6"/>
          </a:solidFill>
          <a:ln xmlns:a="http://schemas.openxmlformats.org/drawingml/2006/main" w="0">
            <a:solidFill>
              <a:srgbClr val="D8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AE3915-A458-4EC3-91FB-261CC8D4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246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49A4AC-C614-4D9D-B373-FD61CE82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723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“卖家需要尽早识别退货原因，但这些信息通常在大量商品已经退回后才获得。”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9ADE0D-C963-4B49-ADCA-1C06B009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Amazon Science · CHIIR 2024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FBA276-FC7E-4088-A81D-975DB2BF4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24050"/>
            <a:ext cx="381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FF99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C4E6CA-DEF1-4062-B703-1294B969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0002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rPr>
              <a:t>分散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866153-F85B-45BE-8D2E-0EA8A2CB1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400300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问题藏在大量自然语言评论中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5C553F-8F50-4CF3-BCAF-E56864823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766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A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A6A6"/>
                </a:solidFill>
                <a:latin typeface="Microsoft YaHei"/>
                <a:ea typeface="Microsoft YaHei"/>
                <a:cs typeface="Microsoft YaHei"/>
              </a:rPr>
              <a:t>滞后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05EA02-A400-4377-89D9-E3F3B9D82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676650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原因往往晚于损失与不满出现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C7EF62-5DA1-434A-9C10-3A0DDAEA0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5529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难决策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B387C7-C1D5-46B1-9BD1-15A47005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953000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该改产品、说明，还是服务？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D227A0-C442-49B5-A532-79F40B02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38800"/>
            <a:ext cx="790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94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94B45"/>
                </a:solidFill>
                <a:latin typeface="Microsoft YaHei"/>
                <a:ea typeface="Microsoft YaHei"/>
                <a:cs typeface="Microsoft YaHei"/>
              </a:rPr>
              <a:t>这是持续经营问题；本项目不声称 Amazon 没有相关工具。</a:t>
            </a:r>
          </a:p>
        </p:txBody>
      </p:sp>
    </p:spTree>
    <p:extLst>
      <p:ext uri="{BB962C8B-B14F-4D97-AF65-F5344CB8AC3E}">
        <p14:creationId xmlns:p14="http://schemas.microsoft.com/office/powerpoint/2010/main" val="12331127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EA9D97-B913-48C6-BD40-01EB16594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rPr>
              <a:t>WEEK 1 · TOPIC CONFIRMATION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F3FE1B-2BAA-4F1E-AD4C-5A5715CDD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我们把评论转成三类决策，并让每个结论都能回看原文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FE5884-B49F-4038-8C8D-5D113CC66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6"/>
          </a:solidFill>
          <a:ln xmlns:a="http://schemas.openxmlformats.org/drawingml/2006/main" w="0">
            <a:solidFill>
              <a:srgbClr val="D8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CD7B45-FC3C-40BC-AFF2-5D6AA63CA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246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70F912-9DF4-4444-BF45-00E6F9D53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AAE174-EEC9-4E85-B404-DE5B005A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问题优先级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498A39-0E07-4F61-852E-69E713D5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FF99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CF5BA7-6FA7-40D1-8100-9B2EE1B57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285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哪些具体属性最值得先核实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DAA41A-C2EB-4687-883A-94C070B1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2405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A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678F8F-195B-4A78-A93B-7C7DB68C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431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增长需求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A0FB38-196A-494B-9B06-D0552B637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FB76DB-5BA7-46A0-9C5E-51E9A0D6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81350"/>
            <a:ext cx="285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用户明确希望增加或改善什么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D907CC-88C6-478F-B522-80C460A6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92405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E4C6CD-B13E-4CD4-A14E-690F84DBD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431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质量变化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FB7213-D595-4A12-9235-A11AF755E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14650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565ADE-DCEE-4B4A-82C8-F41ABB8B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81350"/>
            <a:ext cx="285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哪些指标或问题偏离历史基线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F58284-6525-4856-BE44-7C271AAD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24375"/>
            <a:ext cx="9753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6"/>
          </a:solidFill>
          <a:ln xmlns:a="http://schemas.openxmlformats.org/drawingml/2006/main" w="0">
            <a:solidFill>
              <a:srgbClr val="D8E0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BCCAD6-0509-4F64-9539-8F7418B3C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720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项目亮点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0A220C-DEA9-44EE-BB5D-ED60CEDC2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743450"/>
            <a:ext cx="2524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显式需求与推断需求分开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688640-30A0-4BAB-8677-2808052C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7434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趋势带样本量与准入条件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03AEFC-491B-40B3-883C-13045651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43450"/>
            <a:ext cx="262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支持证据与反例均可追踪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B0171C-5E6B-4705-A698-AF16116F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676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94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94B45"/>
                </a:solidFill>
                <a:latin typeface="Microsoft YaHei"/>
                <a:ea typeface="Microsoft YaHei"/>
                <a:cs typeface="Microsoft YaHei"/>
              </a:rPr>
              <a:t>创新指项目设计上的增量，不宣称首次发明评论分析。</a:t>
            </a:r>
          </a:p>
        </p:txBody>
      </p:sp>
    </p:spTree>
    <p:extLst>
      <p:ext uri="{BB962C8B-B14F-4D97-AF65-F5344CB8AC3E}">
        <p14:creationId xmlns:p14="http://schemas.microsoft.com/office/powerpoint/2010/main" val="7763058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2CE635-42CC-4DE9-ACC6-D33586CA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rPr>
              <a:t>WEEK 1 · TOPIC CONFIRMATION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E8F1CB-8966-48BC-A84A-154D8979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一次家电复盘，走完“发现—核实—改进”全流程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004F02-6A01-4DD2-89AB-ACDEEB68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6"/>
          </a:solidFill>
          <a:ln xmlns:a="http://schemas.openxmlformats.org/drawingml/2006/main" w="0">
            <a:solidFill>
              <a:srgbClr val="D8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ED3EAF-BB59-4C9B-B757-26127E98A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246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8BD688-C4A0-4AB8-A558-680F8CF1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800350"/>
            <a:ext cx="876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6"/>
          </a:solidFill>
          <a:ln xmlns:a="http://schemas.openxmlformats.org/drawingml/2006/main" w="0">
            <a:solidFill>
              <a:srgbClr val="D8E0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54B211-B3E3-4163-AF34-3F6848DC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43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FFBC4B-EF97-40F9-AB07-323D99F5A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选择组合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447FAD-B65C-41AC-BCF2-D0C9A905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38600"/>
            <a:ext cx="1676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品牌 / 店铺历史组合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2F9CAB-4CA7-4FFE-9C64-8E90E727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146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43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B10762-9956-4EB1-B811-4F0F3478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429000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下钻商品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C55730-0BE8-4A68-80B9-33075CF41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038600"/>
            <a:ext cx="1676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父商品与变体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40BD25-5ACA-4413-9CAB-F2EC735D1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146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43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CCB2A2-C09E-4F14-908F-E17FAB2DC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429000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识别问题与需求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FD9DA4-723E-4682-9776-C9B8EC30A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38600"/>
            <a:ext cx="1676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影响、负面、增长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55A024-FF39-4A24-8542-026AA3B1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5146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43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8BD232-D3BD-4623-B546-A5DEDFBEC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429000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检查时间变化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8BF430-ABAB-4D62-B0CB-D285E8608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38600"/>
            <a:ext cx="1676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基线、窗口、样本量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438D1C-6023-4274-9B47-AC0F2A882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5146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03BA4D-C448-49BB-AAAD-256DD9A0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429000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回看证据并决策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2E367A-703C-4D68-BFE8-61B4ABAF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38600"/>
            <a:ext cx="1676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产品 / 说明 / 售后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53CB9A-F51A-42D7-90D8-397D6F253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334000"/>
            <a:ext cx="822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A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A6A6"/>
                </a:solidFill>
                <a:latin typeface="Microsoft YaHei"/>
                <a:ea typeface="Microsoft YaHei"/>
                <a:cs typeface="Microsoft YaHei"/>
              </a:rPr>
              <a:t>最终演示将依据统一准入规则选择真实 parent_asin，不预先编造商品问题。</a:t>
            </a:r>
          </a:p>
        </p:txBody>
      </p:sp>
    </p:spTree>
    <p:extLst>
      <p:ext uri="{BB962C8B-B14F-4D97-AF65-F5344CB8AC3E}">
        <p14:creationId xmlns:p14="http://schemas.microsoft.com/office/powerpoint/2010/main" val="19534633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EAA62E-CDC6-45B7-9F86-F704A5E5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rPr>
              <a:t>WEEK 1 · TOPIC CONFIRMATION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093998-C83C-418B-BDC1-082126B6E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公开数据规模超过课程门槛 200 倍，并保留来源身份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25ECC3-E637-4E4E-9D93-5B0A3477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6"/>
          </a:solidFill>
          <a:ln xmlns:a="http://schemas.openxmlformats.org/drawingml/2006/main" w="0">
            <a:solidFill>
              <a:srgbClr val="D8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6EB8C0-F32D-4906-A521-CC1C45E0B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246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27C327-2A8F-4446-B87D-BA3960CB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71675"/>
            <a:ext cx="3905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rPr>
              <a:t>2,128,605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0AA83B-39A2-44A1-8349-B4018688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Amazon 平台家电历史评论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9FEDEB-5BDD-49DD-9D6E-279CEBCF8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A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A6A6"/>
                </a:solidFill>
                <a:latin typeface="Microsoft YaHei"/>
                <a:ea typeface="Microsoft YaHei"/>
                <a:cs typeface="Microsoft YaHei"/>
              </a:rPr>
              <a:t>94,327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08D4CE-8196-43C7-890F-913D27375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商品元数据记录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E684FA-4DF7-47AA-9BE3-FACE8F9EF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76425"/>
            <a:ext cx="9525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6"/>
          </a:solidFill>
          <a:ln xmlns:a="http://schemas.openxmlformats.org/drawingml/2006/main" w="0">
            <a:solidFill>
              <a:srgbClr val="D8E0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22799B-8863-4F49-8D72-EEEB1672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9526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F9F996-49FB-4DDD-B2E2-D4D11E82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33575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McAuley Lab 公开发布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48EA12-39AC-4155-ADF7-B7835D73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47900"/>
            <a:ext cx="476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Amazon Reviews 2023 · Appliances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496F32-F22F-43EC-AA80-941F90E81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486025"/>
            <a:ext cx="1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6"/>
          </a:solidFill>
          <a:ln xmlns:a="http://schemas.openxmlformats.org/drawingml/2006/main" w="0">
            <a:solidFill>
              <a:srgbClr val="D8E0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3E887B-C107-470C-990B-4CA58AD3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7813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7F775C-F0E0-4D4E-868E-07B275C5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622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Bronze 原始 gzip 只读存档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7A8BCB-3553-40FA-9447-962878755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76575"/>
            <a:ext cx="476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SHA-256、行数、来源清单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69F181-B979-4C22-B266-01CB77C7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314700"/>
            <a:ext cx="1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6"/>
          </a:solidFill>
          <a:ln xmlns:a="http://schemas.openxmlformats.org/drawingml/2006/main" w="0">
            <a:solidFill>
              <a:srgbClr val="D8E0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47557B-5ED8-4BFF-91D4-590C93FB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6099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A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A6A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72C516-CDF5-432B-A7CF-B9F6B77E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90925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Spark 清洗与关联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807F04-6201-400B-86DF-DEEDB5375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05250"/>
            <a:ext cx="476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类型、时间、重复、父商品关系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D008CA-2AFA-4181-BAB4-99C7FEE0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143375"/>
            <a:ext cx="1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6"/>
          </a:solidFill>
          <a:ln xmlns:a="http://schemas.openxmlformats.org/drawingml/2006/main" w="0">
            <a:solidFill>
              <a:srgbClr val="D8E0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E29986-058B-44EB-8D4D-8A57D2DDD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4386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A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A6A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9BAF2D-7BAB-4708-A036-C1C69FE43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196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Silver Parquet 可信明细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B081CC-9909-48B9-9C18-43FC6BD2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733925"/>
            <a:ext cx="476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保留原文、质量标记和批次血缘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3BD4AE-34E7-43FC-B68F-01D29145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05475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94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94B45"/>
                </a:solidFill>
                <a:latin typeface="Microsoft YaHei"/>
                <a:ea typeface="Microsoft YaHei"/>
                <a:cs typeface="Microsoft YaHei"/>
              </a:rPr>
              <a:t>数据截至 2023-09；它是 UCSD 团队发布的 Amazon 平台数据，不是 Amazon 官方数据集。</a:t>
            </a:r>
          </a:p>
        </p:txBody>
      </p:sp>
    </p:spTree>
    <p:extLst>
      <p:ext uri="{BB962C8B-B14F-4D97-AF65-F5344CB8AC3E}">
        <p14:creationId xmlns:p14="http://schemas.microsoft.com/office/powerpoint/2010/main" val="12554603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2CC55F-A9DD-4E5E-8807-68E517117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rPr>
              <a:t>WEEK 1 · TOPIC CONFIRMATION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BEA0BF-C840-4D8F-A49A-50C22CE73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四层架构把离线计算、业务查询和可视化连成一条链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B0FACD-3376-4353-9691-DB5AD2305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6"/>
          </a:solidFill>
          <a:ln xmlns:a="http://schemas.openxmlformats.org/drawingml/2006/main" w="0">
            <a:solidFill>
              <a:srgbClr val="D8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C1BCA3-E8D5-4CA7-8996-5FC7CDA08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246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F8F99B-A17C-4076-AC8C-F10D98E2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FF99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40CDAD-DDD5-40FA-911B-B67B98AE0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rPr>
              <a:t>① 交互层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A42FEA-CA1A-4432-8976-B2480D2D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907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Vue · ECharts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BE8B70-83C0-418A-8C95-06D53A7EA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19275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组合概览、趋势、问题、需求、原文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315520-F33F-4ECC-8A71-368288C3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62225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6"/>
          </a:solidFill>
          <a:ln xmlns:a="http://schemas.openxmlformats.org/drawingml/2006/main" w="0">
            <a:solidFill>
              <a:srgbClr val="D8E0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ACE421-E205-4F26-96C8-BB0AFB3D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1462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D9ABBE-6F20-43CC-94EA-5EDAF0FC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1462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② 业务逻辑层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1892FB-9D24-41C2-AF78-9D26754E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95575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FastAPI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D95459-D68E-440A-B637-CAD98C256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2415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封装筛选、下钻与证据查询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533E1E-EE03-498A-BA8F-29C95413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6710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6"/>
          </a:solidFill>
          <a:ln xmlns:a="http://schemas.openxmlformats.org/drawingml/2006/main" w="0">
            <a:solidFill>
              <a:srgbClr val="D8E0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669DEB-7DBD-4BA3-8CA5-60A1A66F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DE0B58-6294-4BC5-B753-DBFA3DA25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A6A6"/>
                </a:solidFill>
                <a:latin typeface="Microsoft YaHei"/>
                <a:ea typeface="Microsoft YaHei"/>
                <a:cs typeface="Microsoft YaHei"/>
              </a:rPr>
              <a:t>③ 数据管理与挖掘层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ED3035-630D-42D2-8A79-4924EC5CF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004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MongoDB · Gold 分析结果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A651C9-6697-42F3-A1FE-02A0A90A7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29025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面向业务查询组织主题、指标与批次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AC7DD1-CCB1-4469-BE49-3FA7B45E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71975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6"/>
          </a:solidFill>
          <a:ln xmlns:a="http://schemas.openxmlformats.org/drawingml/2006/main" w="0">
            <a:solidFill>
              <a:srgbClr val="D8E0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6E52ED-F683-4354-B3B3-DAC265E7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2437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A4A04C-E5E1-4503-9E6C-65254E90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2437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④ 大数据处理层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156AE8-BD59-4AC0-A507-4A74B5626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05325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11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Spark · Bronze → Silver Parquet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7FD03C-EB49-4057-80BE-213E05375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3390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全量清洗、关联、聚合、血缘与质量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AB2F7C-6775-4F65-A798-43B090B5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769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A6A6"/>
                </a:solidFill>
                <a:latin typeface="Microsoft YaHei"/>
                <a:ea typeface="Microsoft YaHei"/>
                <a:cs typeface="Microsoft YaHei"/>
              </a:rPr>
              <a:t>查询链路向上响应；离线结果由 Spark 写回后再进入业务查询。</a:t>
            </a:r>
          </a:p>
        </p:txBody>
      </p:sp>
    </p:spTree>
    <p:extLst>
      <p:ext uri="{BB962C8B-B14F-4D97-AF65-F5344CB8AC3E}">
        <p14:creationId xmlns:p14="http://schemas.microsoft.com/office/powerpoint/2010/main" val="20149269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54AC07-DE17-424A-AD05-83806287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rPr>
              <a:t>WEEK 1 · TOPIC CONFIRMATION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AD2BE5-5782-4A7E-89A2-D8228497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第一周已完成可运行环境与全量可信明细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4974DE-B430-4C55-A4C4-6F4EF4F3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6"/>
          </a:solidFill>
          <a:ln xmlns:a="http://schemas.openxmlformats.org/drawingml/2006/main" w="0">
            <a:solidFill>
              <a:srgbClr val="D8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03C67D-2D57-4879-9435-0A74A4CD6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246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CBB643-91E8-47D6-88FB-70616309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66900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rPr>
              <a:t>环境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9BE757-4BFD-42F3-B6C1-AE805BF24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622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Spark 4.1.2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2876E8-E7DB-4CF6-B98A-9E402EDFE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1 Master + 2 Worker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69A886-B5DC-4676-B615-83BEC2E4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MongoDB 8.0.29 · FastAPI · Vue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FD2C78-C0E2-42BC-8C58-7115987D1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Python 3.12 · Java 21 · CPU / Intel XPU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DB613C-DC1C-4476-8B24-52DE055C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1857375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6"/>
          </a:solidFill>
          <a:ln xmlns:a="http://schemas.openxmlformats.org/drawingml/2006/main" w="0">
            <a:solidFill>
              <a:srgbClr val="D8E0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DF5F58-0290-4854-AED3-3CF5CE30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86690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A6A6"/>
                </a:solidFill>
                <a:latin typeface="Microsoft YaHei"/>
                <a:ea typeface="Microsoft YaHei"/>
                <a:cs typeface="Microsoft YaHei"/>
              </a:rPr>
              <a:t>全量清洗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23BDD8-E5EA-4BD6-9002-BDA1D0801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362200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2,128,605 / 2,128,605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A35D29-06E6-4FDA-B7E9-96B01047E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8575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评论全部保留，去向可核对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99DB02-17B5-4D56-B989-95615C9F7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486150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A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A6A6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DBC701-A8C0-4281-9278-93D15FEC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0997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评论成功关联商品元数据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939BF6-4D5B-4042-89B6-FF9E31BD5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314825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重复被标记 · 异常不静默删除 · 原文可追踪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498BD9-BB29-496B-B618-82EDBAB88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0070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结论：已具备第二周存储、挖掘和业务功能开发的可信输入。</a:t>
            </a:r>
          </a:p>
        </p:txBody>
      </p:sp>
    </p:spTree>
    <p:extLst>
      <p:ext uri="{BB962C8B-B14F-4D97-AF65-F5344CB8AC3E}">
        <p14:creationId xmlns:p14="http://schemas.microsoft.com/office/powerpoint/2010/main" val="17694821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CD1DB9-0520-4ED8-81FE-C5A50DDB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rPr>
              <a:t>WEEK 1 · TOPIC CONFIRMATION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BA90E1-E634-4C91-80B9-6768225A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SDD 让 AI 辅助开发留下可解释、可复现的过程证据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91EDF1-943C-4064-B339-6B86A11F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6"/>
          </a:solidFill>
          <a:ln xmlns:a="http://schemas.openxmlformats.org/drawingml/2006/main" w="0">
            <a:solidFill>
              <a:srgbClr val="D8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F4F725-B9C9-42A0-A3F7-540C74D0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246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44FC87-05DD-438A-9332-92EEAB8FB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95600"/>
            <a:ext cx="8096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6"/>
          </a:solidFill>
          <a:ln xmlns:a="http://schemas.openxmlformats.org/drawingml/2006/main" w="0">
            <a:solidFill>
              <a:srgbClr val="D8E0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8D67C9-38D6-459E-8CEB-8C13C2E40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98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43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680467-E142-4D5D-A0DE-FCF7EA63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76625"/>
            <a:ext cx="1466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需求规约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91A27D-4A81-4778-966A-EA1A64E3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33825"/>
            <a:ext cx="1771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业务场景与边界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AC0CA2-267B-45FA-95C3-4A9987CA6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098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43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D9AEED-17BF-459D-9F7C-AA1F8D44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476625"/>
            <a:ext cx="1466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设计计划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2694BC-C96A-4A8E-B906-351A38E7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933825"/>
            <a:ext cx="1771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四层架构与技术选型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9BA2D6-27A5-4FB8-BA70-8A581836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6098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43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70B890-7A1C-4386-A32D-B295D334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76625"/>
            <a:ext cx="1466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任务拆分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8B5F7E-ABB4-46C0-BA32-4A462FCDD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933825"/>
            <a:ext cx="1771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依赖、顺序、验收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A9EC6C-E9C4-4542-AFDE-FA650A06F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6098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43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C24BC0-C371-41C9-8102-4E5AF590D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76625"/>
            <a:ext cx="1466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测试与实现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56B1F2-7DD3-4E17-A2AC-1ED2E96E6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933825"/>
            <a:ext cx="1771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先固定规则再编码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D57983-95BE-49C3-BDB6-CE4858526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098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733736-2217-4761-8B51-E97F8E2D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476625"/>
            <a:ext cx="1466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运行证据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6C1135-D01A-465D-9FD8-37F53D44A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33825"/>
            <a:ext cx="1771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批次、数量、提示词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330457-4E73-4101-AA7B-0FD692AD5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3397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A6A6"/>
                </a:solidFill>
                <a:latin typeface="Microsoft YaHei"/>
                <a:ea typeface="Microsoft YaHei"/>
                <a:cs typeface="Microsoft YaHei"/>
              </a:rPr>
              <a:t>已经形成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A82BE9-27FD-4C41-86A1-B4BC57855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095875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spec.md · plan.md · tasks.md · 清洗增量规约 · 测试证据 · 完整提示词记录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F68ADC-83AF-443F-B713-6D2B69B4B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9595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94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94B45"/>
                </a:solidFill>
                <a:latin typeface="Microsoft YaHei"/>
                <a:ea typeface="Microsoft YaHei"/>
                <a:cs typeface="Microsoft YaHei"/>
              </a:rPr>
              <a:t>答辩重点：讲清每一层为什么这样设计，而不是展示 AI 生成了多少代码。</a:t>
            </a:r>
          </a:p>
        </p:txBody>
      </p:sp>
    </p:spTree>
    <p:extLst>
      <p:ext uri="{BB962C8B-B14F-4D97-AF65-F5344CB8AC3E}">
        <p14:creationId xmlns:p14="http://schemas.microsoft.com/office/powerpoint/2010/main" val="17477414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A23B96-7219-4245-A614-148814933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rPr>
              <a:t>WEEK 1 · TOPIC CONFIRMATION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49251E-162E-4EBC-A405-73200271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本次请确认三件事，通过后进入核心功能开发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D3313A-01C9-45E1-8196-AE1E404AB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6"/>
          </a:solidFill>
          <a:ln xmlns:a="http://schemas.openxmlformats.org/drawingml/2006/main" w="0">
            <a:solidFill>
              <a:srgbClr val="D8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4FD5FC-83E7-47FF-A5AE-4C0C7C9E2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246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43B6F5-CC25-433B-B641-939029F4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24050"/>
            <a:ext cx="1066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rPr>
              <a:t>选题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F01830-FC11-4972-A6F6-CE5B0AD3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895475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Amazon 家电评论：问题优先级、需求发现与质量变化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1F525C-AFE4-4E1F-B7F1-57459E9A1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6"/>
          </a:solidFill>
          <a:ln xmlns:a="http://schemas.openxmlformats.org/drawingml/2006/main" w="0">
            <a:solidFill>
              <a:srgbClr val="D8E0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2ED5B9-3AE1-44E2-AF55-5D55D6609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76575"/>
            <a:ext cx="1066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A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A6A6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27227B-92B2-40CA-9FB8-3674CCBE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0480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Amazon Reviews 2023 Appliances：213万评论 + 9.4万商品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BE9062-9A28-4DF1-99EC-4B11FD2A9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9525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6"/>
          </a:solidFill>
          <a:ln xmlns:a="http://schemas.openxmlformats.org/drawingml/2006/main" w="0">
            <a:solidFill>
              <a:srgbClr val="D8E0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E94F26-25FA-48FA-842A-CE01330A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1066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范围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C06AED-1FC5-4937-875C-3C758532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200525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Spark + MongoDB + FastAPI + Vue 的四层 Web 应用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835A20-A0EC-4FBD-A72F-489BA3F1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24500"/>
            <a:ext cx="904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初版分工表另附：数据处理 / 数据挖掘 / 后端服务 / 前端可视化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6B602B-D4D4-47A0-A597-4F1ABA29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769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rPr>
              <a:t>NEXT · 存储建模 → 文本挖掘 → 业务接口 → 可视化联调</a:t>
            </a:r>
          </a:p>
        </p:txBody>
      </p:sp>
    </p:spTree>
    <p:extLst>
      <p:ext uri="{BB962C8B-B14F-4D97-AF65-F5344CB8AC3E}">
        <p14:creationId xmlns:p14="http://schemas.microsoft.com/office/powerpoint/2010/main" val="18729638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2026-09-03T08:40:52.4190000Z</dcterms:created>
  <dcterms:modified xsi:type="dcterms:W3CDTF">2026-09-03T08:40:52.4190000Z</dcterms:modified>
</coreProperties>
</file>