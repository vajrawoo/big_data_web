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3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开场只说清项目对象、数据规模和本次确认目的。不要在标题页解释技术栈。</a:t>
            </a:r>
          </a:p>
          <a:p>
            <a:endParaRPr/>
          </a:p>
          <a:p>
            <a:r>
              <a:t>[Sources]</a:t>
            </a:r>
          </a:p>
          <a:p>
            <a:r>
              <a:t>- D:/CS_Projects/big_data_web/specs/001-merchant-review-insights/spec.md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这里正式撤回此前把 Amazon 已有评论分析工具当作未解决问题证据的表述。论文说明业务难点，不能推导为 Amazon 在 2026 年缺少某项功能。</a:t>
            </a:r>
          </a:p>
          <a:p>
            <a:endParaRPr/>
          </a:p>
          <a:p>
            <a:r>
              <a:t>[Sources]</a:t>
            </a:r>
          </a:p>
          <a:p>
            <a:r>
              <a:t>- https://www.amazon.science/publications/why-do-customers-return-products-using-customer-reviews-to-predict-product-return-behaviors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强调项目比普通词频或情感看板多做了哪些决策支持。避免使用‘行业首创’等无法验证的表述。</a:t>
            </a:r>
          </a:p>
          <a:p>
            <a:endParaRPr/>
          </a:p>
          <a:p>
            <a:r>
              <a:t>[Sources]</a:t>
            </a:r>
          </a:p>
          <a:p>
            <a:r>
              <a:t>- D:/CS_Projects/big_data_web/specs/001-merchant-review-insights/spec.md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这是老师偏好的完整业务过程。现在的数据支持家电运营场景；具体演示商品要在语言、时间覆盖和商品群画像完成后按统一规则选取。</a:t>
            </a:r>
          </a:p>
          <a:p>
            <a:endParaRPr/>
          </a:p>
          <a:p>
            <a:r>
              <a:t>[Sources]</a:t>
            </a:r>
          </a:p>
          <a:p>
            <a:r>
              <a:t>- D:/CS_Projects/big_data_web/specs/001-merchant-review-insights/spec.md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课程文档对文档类数据的最低规模为一万条。发布主页给出约数，本项目使用本机核验后的精确行数。</a:t>
            </a:r>
          </a:p>
          <a:p>
            <a:endParaRPr/>
          </a:p>
          <a:p>
            <a:r>
              <a:t>[Sources]</a:t>
            </a:r>
          </a:p>
          <a:p>
            <a:r>
              <a:t>- https://amazon-reviews-2023.github.io/</a:t>
            </a:r>
          </a:p>
          <a:p>
            <a:r>
              <a:t>- D:/CS_Projects/big_data_web/教师要求/大数据综合实践课程内容说明.pdf</a:t>
            </a:r>
          </a:p>
          <a:p>
            <a:r>
              <a:t>- D:/CS_Projects/big_data_web/docs/runs/silver-cleaning-2026-09-03.md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沿一条评论说明处理过程：Bronze 保留原始 gzip；Spark 登记来源身份，校验字段并统一时间；重复和字段异常只做标记；再按父商品安全关联，写入 Silver Parquet 和批次质量报告。不要展开样本复跑过程。</a:t>
            </a:r>
          </a:p>
          <a:p>
            <a:endParaRPr/>
          </a:p>
          <a:p>
            <a:r>
              <a:t>[Sources]</a:t>
            </a:r>
          </a:p>
          <a:p>
            <a:r>
              <a:t>- D:/CS_Projects/big_data_web/docs/runs/silver-cleaning-2026-09-03.md</a:t>
            </a:r>
          </a:p>
          <a:p>
            <a:r>
              <a:t>- D:/CS_Projects/big_data_web/specs/001-merchant-review-insights/silver-cleaning.md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这是课程规定四层结构在本项目中的具体映射。教师若追问，应沿一条评论说明它如何存档、清洗、聚合、查询和展示。</a:t>
            </a:r>
          </a:p>
          <a:p>
            <a:endParaRPr/>
          </a:p>
          <a:p>
            <a:r>
              <a:t>[Sources]</a:t>
            </a:r>
          </a:p>
          <a:p>
            <a:r>
              <a:t>- D:/CS_Projects/big_data_web/教师要求/大数据综合实践课程内容说明.pdf</a:t>
            </a:r>
          </a:p>
          <a:p>
            <a:r>
              <a:t>- D:/CS_Projects/big_data_web/specs/001-merchant-review-insights/plan.md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这一页只讲已经验证的环境能力，不展示安装步骤、镜像摘要、端口和日志。</a:t>
            </a:r>
          </a:p>
          <a:p>
            <a:endParaRPr/>
          </a:p>
          <a:p>
            <a:r>
              <a:t>[Sources]</a:t>
            </a:r>
          </a:p>
          <a:p>
            <a:r>
              <a:t>- D:/CS_Projects/big_data_web/docs/runs/environment-2026-09-03.md</a:t>
            </a:r>
          </a:p>
          <a:p>
            <a:r>
              <a:t>- D:/CS_Projects/big_data_web/docs/runs/connector-environment-2026-09-03.md</a:t>
            </a:r>
          </a:p>
          <a:p>
            <a:r>
              <a:t>- D:/CS_Projects/big_data_web/docs/runs/web-environment-2026-09-03.md</a:t>
            </a:r>
          </a:p>
          <a:p>
            <a:r>
              <a:t>- D:/CS_Projects/big_data_web/docs/runs/xpu-environment-2026-09-03.md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课程明确允许 Vibe Coding，但要求核心设计自主、SDD 文档与实际实现一致，并能在答辩中解释设计决策。</a:t>
            </a:r>
          </a:p>
          <a:p>
            <a:endParaRPr/>
          </a:p>
          <a:p>
            <a:r>
              <a:t>[Sources]</a:t>
            </a:r>
          </a:p>
          <a:p>
            <a:r>
              <a:t>- D:/CS_Projects/big_data_web/教师要求/大数据综合实践课程内容说明.pdf</a:t>
            </a:r>
          </a:p>
          <a:p>
            <a:r>
              <a:t>- D:/CS_Projects/big_data_web/specs/001-merchant-review-insights/spec.md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第5天教师要求确认选题、初版分工和数据来源。成员姓名与贡献占比应放正式分工表；本页说明模块边界。</a:t>
            </a:r>
          </a:p>
          <a:p>
            <a:endParaRPr/>
          </a:p>
          <a:p>
            <a:r>
              <a:t>[Sources]</a:t>
            </a:r>
          </a:p>
          <a:p>
            <a:r>
              <a:t>- D:/CS_Projects/big_data_web/教师要求/大数据综合实践课程内容说明.pdf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C9EA5A74-EE11-4028-9BE0-18DFA62AA6BF}"/>
              </a:ext>
            </a:extLst>
          </p:cNvPr>
          <p:cNvSpPr>
            <a:spLocks noGrp="1"/>
          </p:cNvSpPr>
          <p:nvPr/>
        </p:nvSpPr>
        <p:spPr>
          <a:xfrm>
            <a:off x="685800" y="819150"/>
            <a:ext cx="666750" cy="76200"/>
          </a:xfrm>
          <a:prstGeom prst="rect">
            <a:avLst/>
          </a:prstGeom>
          <a:solidFill>
            <a:srgbClr val="FF9900"/>
          </a:solidFill>
          <a:ln w="0">
            <a:solidFill>
              <a:srgbClr val="FF9900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2DD23B3-2C55-4EFC-9C24-88E1BE3EBEC5}"/>
              </a:ext>
            </a:extLst>
          </p:cNvPr>
          <p:cNvSpPr>
            <a:spLocks noGrp="1"/>
          </p:cNvSpPr>
          <p:nvPr/>
        </p:nvSpPr>
        <p:spPr>
          <a:xfrm>
            <a:off x="685800" y="1352550"/>
            <a:ext cx="8858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9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Amazon </a:t>
            </a:r>
            <a:r>
              <a:rPr sz="3900" b="1" dirty="0" err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家电评论</a:t>
            </a:r>
            <a:endParaRPr sz="3900" b="1" dirty="0">
              <a:solidFill>
                <a:srgbClr val="10243E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defRPr sz="39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dirty="0" err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需求洞察与质量问题预警</a:t>
            </a:r>
            <a:endParaRPr sz="3900" b="1" dirty="0">
              <a:solidFill>
                <a:srgbClr val="1024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C4BEC38-EC7C-4920-8423-A60832A42E8E}"/>
              </a:ext>
            </a:extLst>
          </p:cNvPr>
          <p:cNvSpPr>
            <a:spLocks noGrp="1"/>
          </p:cNvSpPr>
          <p:nvPr/>
        </p:nvSpPr>
        <p:spPr>
          <a:xfrm>
            <a:off x="723900" y="3371850"/>
            <a:ext cx="828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dirty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从 213 </a:t>
            </a:r>
            <a:r>
              <a:rPr sz="1875" b="0" dirty="0" err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万条历史评论，形成可核查的商品改进依据</a:t>
            </a:r>
            <a:endParaRPr sz="1875" b="0" dirty="0">
              <a:solidFill>
                <a:srgbClr val="5F6B7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602094-1154-41AA-9789-12B7E3749D5F}"/>
              </a:ext>
            </a:extLst>
          </p:cNvPr>
          <p:cNvSpPr>
            <a:spLocks noGrp="1"/>
          </p:cNvSpPr>
          <p:nvPr/>
        </p:nvSpPr>
        <p:spPr>
          <a:xfrm>
            <a:off x="723900" y="5505450"/>
            <a:ext cx="619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第一周</a:t>
            </a:r>
            <a:r>
              <a:rPr sz="1275" b="1" dirty="0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 · </a:t>
            </a:r>
            <a:r>
              <a:rPr sz="1275" b="1" dirty="0" err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选题确认</a:t>
            </a:r>
            <a:r>
              <a:rPr sz="1275" b="1" dirty="0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75" b="1" dirty="0" err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项目范围</a:t>
            </a:r>
            <a:r>
              <a:rPr sz="1275" b="1" dirty="0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275" b="1" dirty="0" err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数据来源</a:t>
            </a:r>
            <a:endParaRPr sz="1275" b="1" dirty="0">
              <a:solidFill>
                <a:srgbClr val="00A6A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C2351BD-73E4-4036-B299-D28729F475A6}"/>
              </a:ext>
            </a:extLst>
          </p:cNvPr>
          <p:cNvSpPr>
            <a:spLocks noGrp="1"/>
          </p:cNvSpPr>
          <p:nvPr/>
        </p:nvSpPr>
        <p:spPr>
          <a:xfrm>
            <a:off x="9572625" y="5524500"/>
            <a:ext cx="19335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75" b="1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dirty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BIG DATA WEB</a:t>
            </a:r>
          </a:p>
        </p:txBody>
      </p:sp>
    </p:spTree>
    <p:extLst>
      <p:ext uri="{BB962C8B-B14F-4D97-AF65-F5344CB8AC3E}">
        <p14:creationId xmlns:p14="http://schemas.microsoft.com/office/powerpoint/2010/main" val="1659265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EAC7EDA5-4B8E-4B3A-895B-BB0D31E59E00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BDBB40-4AB9-47D8-B00F-2B160F71DE28}"/>
              </a:ext>
            </a:extLst>
          </p:cNvPr>
          <p:cNvSpPr>
            <a:spLocks noGrp="1"/>
          </p:cNvSpPr>
          <p:nvPr/>
        </p:nvSpPr>
        <p:spPr>
          <a:xfrm>
            <a:off x="685800" y="7524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问题不在于缺少评论，而在于太晚看清具体原因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968ADCB-C877-4047-9253-D723816E3D5D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BB36B43-1DD0-489E-8D14-C77F5CDF6E32}"/>
              </a:ext>
            </a:extLst>
          </p:cNvPr>
          <p:cNvSpPr>
            <a:spLocks noGrp="1"/>
          </p:cNvSpPr>
          <p:nvPr/>
        </p:nvSpPr>
        <p:spPr>
          <a:xfrm>
            <a:off x="11068050" y="63246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2B51B2-2C78-414C-8DF1-15592AE7A7A6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723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“卖家需要尽早识别退货原因，但这些信息通常在大量商品已经退回后才获得。”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9E49248-E1EA-4DB4-A90E-12FA3B6CDD1B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4095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Amazon Science · CHIIR 2024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3282A8-846E-4B8A-8D51-B7E5C892EF60}"/>
              </a:ext>
            </a:extLst>
          </p:cNvPr>
          <p:cNvSpPr>
            <a:spLocks noGrp="1"/>
          </p:cNvSpPr>
          <p:nvPr/>
        </p:nvSpPr>
        <p:spPr>
          <a:xfrm>
            <a:off x="8572500" y="1924050"/>
            <a:ext cx="38100" cy="3143250"/>
          </a:xfrm>
          <a:prstGeom prst="rect">
            <a:avLst/>
          </a:prstGeom>
          <a:solidFill>
            <a:srgbClr val="FF9900"/>
          </a:solidFill>
          <a:ln w="0">
            <a:solidFill>
              <a:srgbClr val="FF990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9A2E60-DC9A-450E-8C3B-0263EE078873}"/>
              </a:ext>
            </a:extLst>
          </p:cNvPr>
          <p:cNvSpPr>
            <a:spLocks noGrp="1"/>
          </p:cNvSpPr>
          <p:nvPr/>
        </p:nvSpPr>
        <p:spPr>
          <a:xfrm>
            <a:off x="8991600" y="20002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分散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5C08B9A-442F-4301-9904-8DA25DE3443B}"/>
              </a:ext>
            </a:extLst>
          </p:cNvPr>
          <p:cNvSpPr>
            <a:spLocks noGrp="1"/>
          </p:cNvSpPr>
          <p:nvPr/>
        </p:nvSpPr>
        <p:spPr>
          <a:xfrm>
            <a:off x="8991600" y="2400300"/>
            <a:ext cx="2286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问题藏在大量自然语言评论中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42311A-A9C4-45C5-AFEF-7A9BA1F2E307}"/>
              </a:ext>
            </a:extLst>
          </p:cNvPr>
          <p:cNvSpPr>
            <a:spLocks noGrp="1"/>
          </p:cNvSpPr>
          <p:nvPr/>
        </p:nvSpPr>
        <p:spPr>
          <a:xfrm>
            <a:off x="8991600" y="327660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滞后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020E493-5ECA-480F-9124-5F9277533696}"/>
              </a:ext>
            </a:extLst>
          </p:cNvPr>
          <p:cNvSpPr>
            <a:spLocks noGrp="1"/>
          </p:cNvSpPr>
          <p:nvPr/>
        </p:nvSpPr>
        <p:spPr>
          <a:xfrm>
            <a:off x="8991600" y="3676650"/>
            <a:ext cx="2286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原因往往晚于损失与不满出现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F330E85-3AFA-4F88-94C3-8A86CD3EAD22}"/>
              </a:ext>
            </a:extLst>
          </p:cNvPr>
          <p:cNvSpPr>
            <a:spLocks noGrp="1"/>
          </p:cNvSpPr>
          <p:nvPr/>
        </p:nvSpPr>
        <p:spPr>
          <a:xfrm>
            <a:off x="8991600" y="4552950"/>
            <a:ext cx="1809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0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难决策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6EB6CDE-3543-4F23-8D7A-B2B1EF0CFFD2}"/>
              </a:ext>
            </a:extLst>
          </p:cNvPr>
          <p:cNvSpPr>
            <a:spLocks noGrp="1"/>
          </p:cNvSpPr>
          <p:nvPr/>
        </p:nvSpPr>
        <p:spPr>
          <a:xfrm>
            <a:off x="8991600" y="4953000"/>
            <a:ext cx="2286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该改产品、说明，还是服务？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58EFA9-8E1D-4C1F-9904-4C4B2C34E0FE}"/>
              </a:ext>
            </a:extLst>
          </p:cNvPr>
          <p:cNvSpPr>
            <a:spLocks noGrp="1"/>
          </p:cNvSpPr>
          <p:nvPr/>
        </p:nvSpPr>
        <p:spPr>
          <a:xfrm>
            <a:off x="857250" y="5638800"/>
            <a:ext cx="723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需要从分散反馈中更早形成可核查的商品改进依据。</a:t>
            </a:r>
          </a:p>
        </p:txBody>
      </p:sp>
    </p:spTree>
    <p:extLst>
      <p:ext uri="{BB962C8B-B14F-4D97-AF65-F5344CB8AC3E}">
        <p14:creationId xmlns:p14="http://schemas.microsoft.com/office/powerpoint/2010/main" val="737750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4FAEAA35-96F8-46B8-BB33-FCB6653AC43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1F6C6F-696A-4772-B562-81F2DFA5A462}"/>
              </a:ext>
            </a:extLst>
          </p:cNvPr>
          <p:cNvSpPr>
            <a:spLocks noGrp="1"/>
          </p:cNvSpPr>
          <p:nvPr/>
        </p:nvSpPr>
        <p:spPr>
          <a:xfrm>
            <a:off x="685800" y="7524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我们把评论转成三类决策，并让每个结论都能回看原文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57A481F-959C-403E-8C07-04340B465A95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D8B937-4E3A-4ED0-B464-C686B2F243C2}"/>
              </a:ext>
            </a:extLst>
          </p:cNvPr>
          <p:cNvSpPr>
            <a:spLocks noGrp="1"/>
          </p:cNvSpPr>
          <p:nvPr/>
        </p:nvSpPr>
        <p:spPr>
          <a:xfrm>
            <a:off x="11068050" y="63246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CE9108-46C0-4AD0-8C6B-6C39B9D18BDB}"/>
              </a:ext>
            </a:extLst>
          </p:cNvPr>
          <p:cNvSpPr>
            <a:spLocks noGrp="1"/>
          </p:cNvSpPr>
          <p:nvPr/>
        </p:nvSpPr>
        <p:spPr>
          <a:xfrm>
            <a:off x="876300" y="19240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8AAA067-EF09-4CD2-9A7E-3C25C5731208}"/>
              </a:ext>
            </a:extLst>
          </p:cNvPr>
          <p:cNvSpPr>
            <a:spLocks noGrp="1"/>
          </p:cNvSpPr>
          <p:nvPr/>
        </p:nvSpPr>
        <p:spPr>
          <a:xfrm>
            <a:off x="876300" y="23431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问题优先级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57530B-1A15-4B5C-841A-0CC05D86D0DD}"/>
              </a:ext>
            </a:extLst>
          </p:cNvPr>
          <p:cNvSpPr>
            <a:spLocks noGrp="1"/>
          </p:cNvSpPr>
          <p:nvPr/>
        </p:nvSpPr>
        <p:spPr>
          <a:xfrm>
            <a:off x="876300" y="2914650"/>
            <a:ext cx="2857500" cy="38100"/>
          </a:xfrm>
          <a:prstGeom prst="rect">
            <a:avLst/>
          </a:prstGeom>
          <a:solidFill>
            <a:srgbClr val="FF9900"/>
          </a:solidFill>
          <a:ln w="0">
            <a:solidFill>
              <a:srgbClr val="FF9900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AAC4F9B-DC29-438C-A714-F5A46197EA35}"/>
              </a:ext>
            </a:extLst>
          </p:cNvPr>
          <p:cNvSpPr>
            <a:spLocks noGrp="1"/>
          </p:cNvSpPr>
          <p:nvPr/>
        </p:nvSpPr>
        <p:spPr>
          <a:xfrm>
            <a:off x="876300" y="3181350"/>
            <a:ext cx="285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哪些具体属性最值得先核实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ABF8660-FCC7-48A7-91B0-AF919A3F76AB}"/>
              </a:ext>
            </a:extLst>
          </p:cNvPr>
          <p:cNvSpPr>
            <a:spLocks noGrp="1"/>
          </p:cNvSpPr>
          <p:nvPr/>
        </p:nvSpPr>
        <p:spPr>
          <a:xfrm>
            <a:off x="4324350" y="19240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E03708D-2DFF-44E4-B427-ABC1F16B39E6}"/>
              </a:ext>
            </a:extLst>
          </p:cNvPr>
          <p:cNvSpPr>
            <a:spLocks noGrp="1"/>
          </p:cNvSpPr>
          <p:nvPr/>
        </p:nvSpPr>
        <p:spPr>
          <a:xfrm>
            <a:off x="4324350" y="23431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增长需求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885BB56-3194-47C1-B233-BCB120B91A9F}"/>
              </a:ext>
            </a:extLst>
          </p:cNvPr>
          <p:cNvSpPr>
            <a:spLocks noGrp="1"/>
          </p:cNvSpPr>
          <p:nvPr/>
        </p:nvSpPr>
        <p:spPr>
          <a:xfrm>
            <a:off x="4324350" y="2914650"/>
            <a:ext cx="2857500" cy="3810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C6B42F-1F1C-4766-B967-B22BFD9399C3}"/>
              </a:ext>
            </a:extLst>
          </p:cNvPr>
          <p:cNvSpPr>
            <a:spLocks noGrp="1"/>
          </p:cNvSpPr>
          <p:nvPr/>
        </p:nvSpPr>
        <p:spPr>
          <a:xfrm>
            <a:off x="4324350" y="3181350"/>
            <a:ext cx="285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用户明确希望增加或改善什么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FE361E2-7287-4180-BD93-82D04958FAEA}"/>
              </a:ext>
            </a:extLst>
          </p:cNvPr>
          <p:cNvSpPr>
            <a:spLocks noGrp="1"/>
          </p:cNvSpPr>
          <p:nvPr/>
        </p:nvSpPr>
        <p:spPr>
          <a:xfrm>
            <a:off x="7772400" y="19240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E07DCB2-A09D-4599-928C-C3870B3B4A7A}"/>
              </a:ext>
            </a:extLst>
          </p:cNvPr>
          <p:cNvSpPr>
            <a:spLocks noGrp="1"/>
          </p:cNvSpPr>
          <p:nvPr/>
        </p:nvSpPr>
        <p:spPr>
          <a:xfrm>
            <a:off x="7772400" y="2343150"/>
            <a:ext cx="285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质量变化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D9F470A-47DC-49C8-ADDB-714D904619DE}"/>
              </a:ext>
            </a:extLst>
          </p:cNvPr>
          <p:cNvSpPr>
            <a:spLocks noGrp="1"/>
          </p:cNvSpPr>
          <p:nvPr/>
        </p:nvSpPr>
        <p:spPr>
          <a:xfrm>
            <a:off x="7772400" y="2914650"/>
            <a:ext cx="2857500" cy="38100"/>
          </a:xfrm>
          <a:prstGeom prst="rect">
            <a:avLst/>
          </a:prstGeom>
          <a:solidFill>
            <a:srgbClr val="2F6FED"/>
          </a:solidFill>
          <a:ln w="0">
            <a:solidFill>
              <a:srgbClr val="2F6FED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10E69B-F384-4274-B120-BE7BBA799E53}"/>
              </a:ext>
            </a:extLst>
          </p:cNvPr>
          <p:cNvSpPr>
            <a:spLocks noGrp="1"/>
          </p:cNvSpPr>
          <p:nvPr/>
        </p:nvSpPr>
        <p:spPr>
          <a:xfrm>
            <a:off x="7772400" y="3181350"/>
            <a:ext cx="28575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哪些指标或问题偏离历史基线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12113EC-E30F-47D4-985B-9EB8798A606C}"/>
              </a:ext>
            </a:extLst>
          </p:cNvPr>
          <p:cNvSpPr>
            <a:spLocks noGrp="1"/>
          </p:cNvSpPr>
          <p:nvPr/>
        </p:nvSpPr>
        <p:spPr>
          <a:xfrm>
            <a:off x="876300" y="4524375"/>
            <a:ext cx="97536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8182CCA-6CF8-4893-B9F7-C5B636115E4D}"/>
              </a:ext>
            </a:extLst>
          </p:cNvPr>
          <p:cNvSpPr>
            <a:spLocks noGrp="1"/>
          </p:cNvSpPr>
          <p:nvPr/>
        </p:nvSpPr>
        <p:spPr>
          <a:xfrm>
            <a:off x="876300" y="4772025"/>
            <a:ext cx="152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项目亮点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16BAB20-A89A-4121-91FF-C940E1D6A6D4}"/>
              </a:ext>
            </a:extLst>
          </p:cNvPr>
          <p:cNvSpPr>
            <a:spLocks noGrp="1"/>
          </p:cNvSpPr>
          <p:nvPr/>
        </p:nvSpPr>
        <p:spPr>
          <a:xfrm>
            <a:off x="2609850" y="4743450"/>
            <a:ext cx="25241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显式需求与推断需求分开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673D58-174C-4A08-AB3E-B8D283854744}"/>
              </a:ext>
            </a:extLst>
          </p:cNvPr>
          <p:cNvSpPr>
            <a:spLocks noGrp="1"/>
          </p:cNvSpPr>
          <p:nvPr/>
        </p:nvSpPr>
        <p:spPr>
          <a:xfrm>
            <a:off x="5381625" y="4743450"/>
            <a:ext cx="238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趋势带样本量与准入条件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923848-45F6-4AA8-AE6C-72960A54E146}"/>
              </a:ext>
            </a:extLst>
          </p:cNvPr>
          <p:cNvSpPr>
            <a:spLocks noGrp="1"/>
          </p:cNvSpPr>
          <p:nvPr/>
        </p:nvSpPr>
        <p:spPr>
          <a:xfrm>
            <a:off x="8001000" y="4743450"/>
            <a:ext cx="26289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支持证据与反例均可追踪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7493B4A-6A4C-4FE2-A9AB-D69DD5C4DCC3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781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页面上的每个判断，都必须带着样本量、时间范围和评论依据。</a:t>
            </a:r>
          </a:p>
        </p:txBody>
      </p:sp>
    </p:spTree>
    <p:extLst>
      <p:ext uri="{BB962C8B-B14F-4D97-AF65-F5344CB8AC3E}">
        <p14:creationId xmlns:p14="http://schemas.microsoft.com/office/powerpoint/2010/main" val="1701966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6B1852C-218F-421C-8769-F947F55E095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D7232B-495A-4FC6-BB71-3E565F7B463D}"/>
              </a:ext>
            </a:extLst>
          </p:cNvPr>
          <p:cNvSpPr>
            <a:spLocks noGrp="1"/>
          </p:cNvSpPr>
          <p:nvPr/>
        </p:nvSpPr>
        <p:spPr>
          <a:xfrm>
            <a:off x="685800" y="7524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一次家电复盘，走完“发现—核实—改进”全流程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39AB35-B4AA-4CB5-86C3-77B492E2310E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FD005B-D211-424F-B39F-BE95CEA167A1}"/>
              </a:ext>
            </a:extLst>
          </p:cNvPr>
          <p:cNvSpPr>
            <a:spLocks noGrp="1"/>
          </p:cNvSpPr>
          <p:nvPr/>
        </p:nvSpPr>
        <p:spPr>
          <a:xfrm>
            <a:off x="11068050" y="63246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258DDD-1D65-403C-BF56-2AD6224C1BAE}"/>
              </a:ext>
            </a:extLst>
          </p:cNvPr>
          <p:cNvSpPr>
            <a:spLocks noGrp="1"/>
          </p:cNvSpPr>
          <p:nvPr/>
        </p:nvSpPr>
        <p:spPr>
          <a:xfrm>
            <a:off x="1209675" y="2800350"/>
            <a:ext cx="8763000" cy="38100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5566CB80-C5E9-4060-B5F1-B1B7BF04787F}"/>
              </a:ext>
            </a:extLst>
          </p:cNvPr>
          <p:cNvSpPr>
            <a:spLocks noGrp="1"/>
          </p:cNvSpPr>
          <p:nvPr/>
        </p:nvSpPr>
        <p:spPr>
          <a:xfrm>
            <a:off x="838200" y="2514600"/>
            <a:ext cx="590550" cy="590550"/>
          </a:xfrm>
          <a:prstGeom prst="ellipse">
            <a:avLst/>
          </a:prstGeom>
          <a:solidFill>
            <a:srgbClr val="10243E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51D6E62-1F4F-4A54-AF8E-3903F6105C73}"/>
              </a:ext>
            </a:extLst>
          </p:cNvPr>
          <p:cNvSpPr>
            <a:spLocks noGrp="1"/>
          </p:cNvSpPr>
          <p:nvPr/>
        </p:nvSpPr>
        <p:spPr>
          <a:xfrm>
            <a:off x="685800" y="34290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选择组合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CDAFFB-C02E-40EE-B6CB-AE83C444C6E8}"/>
              </a:ext>
            </a:extLst>
          </p:cNvPr>
          <p:cNvSpPr>
            <a:spLocks noGrp="1"/>
          </p:cNvSpPr>
          <p:nvPr/>
        </p:nvSpPr>
        <p:spPr>
          <a:xfrm>
            <a:off x="571500" y="40386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品牌 / 店铺历史组合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B55F57EE-9625-48DC-8E39-169C63F54D6A}"/>
              </a:ext>
            </a:extLst>
          </p:cNvPr>
          <p:cNvSpPr>
            <a:spLocks noGrp="1"/>
          </p:cNvSpPr>
          <p:nvPr/>
        </p:nvSpPr>
        <p:spPr>
          <a:xfrm>
            <a:off x="3028950" y="2514600"/>
            <a:ext cx="590550" cy="590550"/>
          </a:xfrm>
          <a:prstGeom prst="ellipse">
            <a:avLst/>
          </a:prstGeom>
          <a:solidFill>
            <a:srgbClr val="10243E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85E618E-4F49-4576-836D-F2E327D856D1}"/>
              </a:ext>
            </a:extLst>
          </p:cNvPr>
          <p:cNvSpPr>
            <a:spLocks noGrp="1"/>
          </p:cNvSpPr>
          <p:nvPr/>
        </p:nvSpPr>
        <p:spPr>
          <a:xfrm>
            <a:off x="2876550" y="34290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下钻商品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455F3D3-D980-47A9-86C5-340B955092E5}"/>
              </a:ext>
            </a:extLst>
          </p:cNvPr>
          <p:cNvSpPr>
            <a:spLocks noGrp="1"/>
          </p:cNvSpPr>
          <p:nvPr/>
        </p:nvSpPr>
        <p:spPr>
          <a:xfrm>
            <a:off x="2762250" y="40386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父商品与变体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D3FDFCA-2F59-4288-8D44-801ADA89B9D7}"/>
              </a:ext>
            </a:extLst>
          </p:cNvPr>
          <p:cNvSpPr>
            <a:spLocks noGrp="1"/>
          </p:cNvSpPr>
          <p:nvPr/>
        </p:nvSpPr>
        <p:spPr>
          <a:xfrm>
            <a:off x="5219700" y="2514600"/>
            <a:ext cx="590550" cy="590550"/>
          </a:xfrm>
          <a:prstGeom prst="ellipse">
            <a:avLst/>
          </a:prstGeom>
          <a:solidFill>
            <a:srgbClr val="10243E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0B21D1D-51EC-422F-AFE1-44B2975B80F2}"/>
              </a:ext>
            </a:extLst>
          </p:cNvPr>
          <p:cNvSpPr>
            <a:spLocks noGrp="1"/>
          </p:cNvSpPr>
          <p:nvPr/>
        </p:nvSpPr>
        <p:spPr>
          <a:xfrm>
            <a:off x="5067300" y="34290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识别问题与需求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DA8753-E53A-4E80-971C-561A2E107A82}"/>
              </a:ext>
            </a:extLst>
          </p:cNvPr>
          <p:cNvSpPr>
            <a:spLocks noGrp="1"/>
          </p:cNvSpPr>
          <p:nvPr/>
        </p:nvSpPr>
        <p:spPr>
          <a:xfrm>
            <a:off x="4953000" y="40386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影响、负面、增长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2B5A42AF-FE43-4D37-A8E5-972DDC3A1F71}"/>
              </a:ext>
            </a:extLst>
          </p:cNvPr>
          <p:cNvSpPr>
            <a:spLocks noGrp="1"/>
          </p:cNvSpPr>
          <p:nvPr/>
        </p:nvSpPr>
        <p:spPr>
          <a:xfrm>
            <a:off x="7410450" y="2514600"/>
            <a:ext cx="590550" cy="590550"/>
          </a:xfrm>
          <a:prstGeom prst="ellipse">
            <a:avLst/>
          </a:prstGeom>
          <a:solidFill>
            <a:srgbClr val="10243E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5181C20-6BF4-4D9B-AB70-E60C8F789CC2}"/>
              </a:ext>
            </a:extLst>
          </p:cNvPr>
          <p:cNvSpPr>
            <a:spLocks noGrp="1"/>
          </p:cNvSpPr>
          <p:nvPr/>
        </p:nvSpPr>
        <p:spPr>
          <a:xfrm>
            <a:off x="7258050" y="34290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检查时间变化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A9CAF32-3B72-4100-869B-C3BAED426F60}"/>
              </a:ext>
            </a:extLst>
          </p:cNvPr>
          <p:cNvSpPr>
            <a:spLocks noGrp="1"/>
          </p:cNvSpPr>
          <p:nvPr/>
        </p:nvSpPr>
        <p:spPr>
          <a:xfrm>
            <a:off x="7143750" y="40386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基线、窗口、样本量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3D8853A-5405-474F-AC99-6A79266FDEAF}"/>
              </a:ext>
            </a:extLst>
          </p:cNvPr>
          <p:cNvSpPr>
            <a:spLocks noGrp="1"/>
          </p:cNvSpPr>
          <p:nvPr/>
        </p:nvSpPr>
        <p:spPr>
          <a:xfrm>
            <a:off x="9601200" y="2514600"/>
            <a:ext cx="590550" cy="590550"/>
          </a:xfrm>
          <a:prstGeom prst="ellipse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DAC4ABE-4344-4707-B873-ECAA9FF7ADF4}"/>
              </a:ext>
            </a:extLst>
          </p:cNvPr>
          <p:cNvSpPr>
            <a:spLocks noGrp="1"/>
          </p:cNvSpPr>
          <p:nvPr/>
        </p:nvSpPr>
        <p:spPr>
          <a:xfrm>
            <a:off x="9448800" y="34290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回看证据并决策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DF8C5C2-1669-41C9-BE51-1EA7CFFB06C7}"/>
              </a:ext>
            </a:extLst>
          </p:cNvPr>
          <p:cNvSpPr>
            <a:spLocks noGrp="1"/>
          </p:cNvSpPr>
          <p:nvPr/>
        </p:nvSpPr>
        <p:spPr>
          <a:xfrm>
            <a:off x="9334500" y="4038600"/>
            <a:ext cx="16764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产品 / 说明 / 售后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5DE8E77-12A8-4E7C-B85B-D7191DDC88F1}"/>
              </a:ext>
            </a:extLst>
          </p:cNvPr>
          <p:cNvSpPr>
            <a:spLocks noGrp="1"/>
          </p:cNvSpPr>
          <p:nvPr/>
        </p:nvSpPr>
        <p:spPr>
          <a:xfrm>
            <a:off x="2457450" y="5334000"/>
            <a:ext cx="7277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演示案例按评论量、时间覆盖和商品语义统一筛选。</a:t>
            </a:r>
          </a:p>
        </p:txBody>
      </p:sp>
    </p:spTree>
    <p:extLst>
      <p:ext uri="{BB962C8B-B14F-4D97-AF65-F5344CB8AC3E}">
        <p14:creationId xmlns:p14="http://schemas.microsoft.com/office/powerpoint/2010/main" val="1481667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06781505-CD8B-4A81-9674-3563D29E41C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B60EDF6-31F4-436D-B862-0224907EEC5A}"/>
              </a:ext>
            </a:extLst>
          </p:cNvPr>
          <p:cNvSpPr>
            <a:spLocks noGrp="1"/>
          </p:cNvSpPr>
          <p:nvPr/>
        </p:nvSpPr>
        <p:spPr>
          <a:xfrm>
            <a:off x="685800" y="7524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公开数据规模超过课程门槛 200 倍，并保留来源身份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106341-467F-4582-8BB6-296EF62B1525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926C0F1-BFEC-45F1-AF29-C29D3FB28C84}"/>
              </a:ext>
            </a:extLst>
          </p:cNvPr>
          <p:cNvSpPr>
            <a:spLocks noGrp="1"/>
          </p:cNvSpPr>
          <p:nvPr/>
        </p:nvSpPr>
        <p:spPr>
          <a:xfrm>
            <a:off x="11068050" y="63246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22ADD2B-AC2B-4A06-BB37-BDEED9FE7F6A}"/>
              </a:ext>
            </a:extLst>
          </p:cNvPr>
          <p:cNvSpPr>
            <a:spLocks noGrp="1"/>
          </p:cNvSpPr>
          <p:nvPr/>
        </p:nvSpPr>
        <p:spPr>
          <a:xfrm>
            <a:off x="800100" y="1971675"/>
            <a:ext cx="3905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40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2,128,605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C3409CD-E575-41D3-98D3-74D0E7AB89CA}"/>
              </a:ext>
            </a:extLst>
          </p:cNvPr>
          <p:cNvSpPr>
            <a:spLocks noGrp="1"/>
          </p:cNvSpPr>
          <p:nvPr/>
        </p:nvSpPr>
        <p:spPr>
          <a:xfrm>
            <a:off x="838200" y="280035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Amazon 平台家电历史评论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CB433FC-D29E-4F92-8527-DE9BB6BF4F98}"/>
              </a:ext>
            </a:extLst>
          </p:cNvPr>
          <p:cNvSpPr>
            <a:spLocks noGrp="1"/>
          </p:cNvSpPr>
          <p:nvPr/>
        </p:nvSpPr>
        <p:spPr>
          <a:xfrm>
            <a:off x="800100" y="3638550"/>
            <a:ext cx="3905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36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94,327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D98909A-70DC-4B32-9661-6BC22B4523EF}"/>
              </a:ext>
            </a:extLst>
          </p:cNvPr>
          <p:cNvSpPr>
            <a:spLocks noGrp="1"/>
          </p:cNvSpPr>
          <p:nvPr/>
        </p:nvSpPr>
        <p:spPr>
          <a:xfrm>
            <a:off x="838200" y="4381500"/>
            <a:ext cx="3714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商品元数据记录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B19A28-686F-4AB8-89AA-8B8F792C432D}"/>
              </a:ext>
            </a:extLst>
          </p:cNvPr>
          <p:cNvSpPr>
            <a:spLocks noGrp="1"/>
          </p:cNvSpPr>
          <p:nvPr/>
        </p:nvSpPr>
        <p:spPr>
          <a:xfrm>
            <a:off x="5219700" y="1876425"/>
            <a:ext cx="9525" cy="3486150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4E17B96-2CF7-4438-A0E7-8A2A8EFA1046}"/>
              </a:ext>
            </a:extLst>
          </p:cNvPr>
          <p:cNvSpPr>
            <a:spLocks noGrp="1"/>
          </p:cNvSpPr>
          <p:nvPr/>
        </p:nvSpPr>
        <p:spPr>
          <a:xfrm>
            <a:off x="5657850" y="195262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FBC549-B6C0-4760-9FCF-77A8C8384B1E}"/>
              </a:ext>
            </a:extLst>
          </p:cNvPr>
          <p:cNvSpPr>
            <a:spLocks noGrp="1"/>
          </p:cNvSpPr>
          <p:nvPr/>
        </p:nvSpPr>
        <p:spPr>
          <a:xfrm>
            <a:off x="6210300" y="193357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McAuley Lab 公开发布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F5D4884-78AA-45C9-A45A-579489AEA2F5}"/>
              </a:ext>
            </a:extLst>
          </p:cNvPr>
          <p:cNvSpPr>
            <a:spLocks noGrp="1"/>
          </p:cNvSpPr>
          <p:nvPr/>
        </p:nvSpPr>
        <p:spPr>
          <a:xfrm>
            <a:off x="6210300" y="224790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Amazon Reviews 2023 · Appliances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A73A117-7ADF-4C30-80DC-254D2CA5ABD2}"/>
              </a:ext>
            </a:extLst>
          </p:cNvPr>
          <p:cNvSpPr>
            <a:spLocks noGrp="1"/>
          </p:cNvSpPr>
          <p:nvPr/>
        </p:nvSpPr>
        <p:spPr>
          <a:xfrm>
            <a:off x="5857875" y="2486025"/>
            <a:ext cx="19050" cy="266700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C52230-16C8-460A-96BB-627C0E2DECA6}"/>
              </a:ext>
            </a:extLst>
          </p:cNvPr>
          <p:cNvSpPr>
            <a:spLocks noGrp="1"/>
          </p:cNvSpPr>
          <p:nvPr/>
        </p:nvSpPr>
        <p:spPr>
          <a:xfrm>
            <a:off x="5657850" y="278130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D98E809-E130-47AD-9401-434A052479FE}"/>
              </a:ext>
            </a:extLst>
          </p:cNvPr>
          <p:cNvSpPr>
            <a:spLocks noGrp="1"/>
          </p:cNvSpPr>
          <p:nvPr/>
        </p:nvSpPr>
        <p:spPr>
          <a:xfrm>
            <a:off x="6210300" y="276225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Bronze 原始 gzip 只读存档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FA792EF-A524-4236-92DD-BDD3C22EF76D}"/>
              </a:ext>
            </a:extLst>
          </p:cNvPr>
          <p:cNvSpPr>
            <a:spLocks noGrp="1"/>
          </p:cNvSpPr>
          <p:nvPr/>
        </p:nvSpPr>
        <p:spPr>
          <a:xfrm>
            <a:off x="6210300" y="3076575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SHA-256、行数、来源清单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648282C-1597-4F8E-9DB9-0D0C4F602570}"/>
              </a:ext>
            </a:extLst>
          </p:cNvPr>
          <p:cNvSpPr>
            <a:spLocks noGrp="1"/>
          </p:cNvSpPr>
          <p:nvPr/>
        </p:nvSpPr>
        <p:spPr>
          <a:xfrm>
            <a:off x="5857875" y="3314700"/>
            <a:ext cx="19050" cy="266700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A271E0B-D69C-486F-8604-2E9E26BF4DC6}"/>
              </a:ext>
            </a:extLst>
          </p:cNvPr>
          <p:cNvSpPr>
            <a:spLocks noGrp="1"/>
          </p:cNvSpPr>
          <p:nvPr/>
        </p:nvSpPr>
        <p:spPr>
          <a:xfrm>
            <a:off x="5657850" y="3609975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0EEFE95-985C-40EE-9AE7-9B1D70B23D1C}"/>
              </a:ext>
            </a:extLst>
          </p:cNvPr>
          <p:cNvSpPr>
            <a:spLocks noGrp="1"/>
          </p:cNvSpPr>
          <p:nvPr/>
        </p:nvSpPr>
        <p:spPr>
          <a:xfrm>
            <a:off x="6210300" y="359092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Spark 清洗与关联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BFA2E49-3108-4453-A6FE-9451E6316951}"/>
              </a:ext>
            </a:extLst>
          </p:cNvPr>
          <p:cNvSpPr>
            <a:spLocks noGrp="1"/>
          </p:cNvSpPr>
          <p:nvPr/>
        </p:nvSpPr>
        <p:spPr>
          <a:xfrm>
            <a:off x="6210300" y="3905250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类型、时间、重复、父商品关系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8FBE264-A850-4999-91E3-D38669E71E38}"/>
              </a:ext>
            </a:extLst>
          </p:cNvPr>
          <p:cNvSpPr>
            <a:spLocks noGrp="1"/>
          </p:cNvSpPr>
          <p:nvPr/>
        </p:nvSpPr>
        <p:spPr>
          <a:xfrm>
            <a:off x="5857875" y="4143375"/>
            <a:ext cx="19050" cy="266700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C9C2D70-CB58-487B-87E3-BAB81C017CB2}"/>
              </a:ext>
            </a:extLst>
          </p:cNvPr>
          <p:cNvSpPr>
            <a:spLocks noGrp="1"/>
          </p:cNvSpPr>
          <p:nvPr/>
        </p:nvSpPr>
        <p:spPr>
          <a:xfrm>
            <a:off x="5657850" y="4438650"/>
            <a:ext cx="419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0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8D5FE24-9652-4D15-A621-D0D57A162248}"/>
              </a:ext>
            </a:extLst>
          </p:cNvPr>
          <p:cNvSpPr>
            <a:spLocks noGrp="1"/>
          </p:cNvSpPr>
          <p:nvPr/>
        </p:nvSpPr>
        <p:spPr>
          <a:xfrm>
            <a:off x="6210300" y="4419600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Silver Parquet 可信明细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A13411A-ABAC-433D-8AE7-E1DB9F08333D}"/>
              </a:ext>
            </a:extLst>
          </p:cNvPr>
          <p:cNvSpPr>
            <a:spLocks noGrp="1"/>
          </p:cNvSpPr>
          <p:nvPr/>
        </p:nvSpPr>
        <p:spPr>
          <a:xfrm>
            <a:off x="6210300" y="4733925"/>
            <a:ext cx="47625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保留原文、质量标记和批次血缘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813413-1CA9-4B2D-BAD8-CB64C1766BC4}"/>
              </a:ext>
            </a:extLst>
          </p:cNvPr>
          <p:cNvSpPr>
            <a:spLocks noGrp="1"/>
          </p:cNvSpPr>
          <p:nvPr/>
        </p:nvSpPr>
        <p:spPr>
          <a:xfrm>
            <a:off x="800100" y="5705475"/>
            <a:ext cx="10191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C94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94B45"/>
                </a:solidFill>
                <a:latin typeface="Microsoft YaHei"/>
                <a:ea typeface="Microsoft YaHei"/>
                <a:cs typeface="Microsoft YaHei"/>
              </a:rPr>
              <a:t>数据截至 2023-09；它是 UCSD 团队发布的 Amazon 平台数据，不是 Amazon 官方数据集。</a:t>
            </a:r>
          </a:p>
        </p:txBody>
      </p:sp>
    </p:spTree>
    <p:extLst>
      <p:ext uri="{BB962C8B-B14F-4D97-AF65-F5344CB8AC3E}">
        <p14:creationId xmlns:p14="http://schemas.microsoft.com/office/powerpoint/2010/main" val="217349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859EEC66-B32F-43F1-8CB0-05AE0E6C435A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B715C1-E565-4F48-8FF9-7BA6A4F6596F}"/>
              </a:ext>
            </a:extLst>
          </p:cNvPr>
          <p:cNvSpPr>
            <a:spLocks noGrp="1"/>
          </p:cNvSpPr>
          <p:nvPr/>
        </p:nvSpPr>
        <p:spPr>
          <a:xfrm>
            <a:off x="685800" y="7524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清洗不是简单删数据，而是把每条评论变成可信明细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8B1436-0067-44E7-A15F-4C4E38B8A5E4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D1BACE-3717-4A5D-AAE9-48BF49D7C15E}"/>
              </a:ext>
            </a:extLst>
          </p:cNvPr>
          <p:cNvSpPr>
            <a:spLocks noGrp="1"/>
          </p:cNvSpPr>
          <p:nvPr/>
        </p:nvSpPr>
        <p:spPr>
          <a:xfrm>
            <a:off x="11068050" y="63246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BDC1168-DE6C-46C3-BEC6-64E0C57AAE2D}"/>
              </a:ext>
            </a:extLst>
          </p:cNvPr>
          <p:cNvSpPr>
            <a:spLocks noGrp="1"/>
          </p:cNvSpPr>
          <p:nvPr/>
        </p:nvSpPr>
        <p:spPr>
          <a:xfrm>
            <a:off x="1162050" y="2724150"/>
            <a:ext cx="8610600" cy="38100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A3D1FEB-1F6E-4E43-8266-A9042C9BC4A5}"/>
              </a:ext>
            </a:extLst>
          </p:cNvPr>
          <p:cNvSpPr>
            <a:spLocks noGrp="1"/>
          </p:cNvSpPr>
          <p:nvPr/>
        </p:nvSpPr>
        <p:spPr>
          <a:xfrm>
            <a:off x="781050" y="2447925"/>
            <a:ext cx="685800" cy="571500"/>
          </a:xfrm>
          <a:prstGeom prst="ellipse">
            <a:avLst/>
          </a:prstGeom>
          <a:solidFill>
            <a:srgbClr val="10243E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2A2F423-FBAF-4AC0-B9E6-311948E47210}"/>
              </a:ext>
            </a:extLst>
          </p:cNvPr>
          <p:cNvSpPr>
            <a:spLocks noGrp="1"/>
          </p:cNvSpPr>
          <p:nvPr/>
        </p:nvSpPr>
        <p:spPr>
          <a:xfrm>
            <a:off x="542925" y="33528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登记原始来源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0647C92-73C4-44B0-884B-7C7191FBFD74}"/>
              </a:ext>
            </a:extLst>
          </p:cNvPr>
          <p:cNvSpPr>
            <a:spLocks noGrp="1"/>
          </p:cNvSpPr>
          <p:nvPr/>
        </p:nvSpPr>
        <p:spPr>
          <a:xfrm>
            <a:off x="371475" y="3829050"/>
            <a:ext cx="1962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文件、行号、SHA-256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EE49BD9-370F-4C2F-8A57-0941CA0B4C03}"/>
              </a:ext>
            </a:extLst>
          </p:cNvPr>
          <p:cNvSpPr>
            <a:spLocks noGrp="1"/>
          </p:cNvSpPr>
          <p:nvPr/>
        </p:nvSpPr>
        <p:spPr>
          <a:xfrm>
            <a:off x="2933700" y="2447925"/>
            <a:ext cx="685800" cy="571500"/>
          </a:xfrm>
          <a:prstGeom prst="ellipse">
            <a:avLst/>
          </a:prstGeom>
          <a:solidFill>
            <a:srgbClr val="10243E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BBA8680-59CE-47E5-825E-1D753408C43D}"/>
              </a:ext>
            </a:extLst>
          </p:cNvPr>
          <p:cNvSpPr>
            <a:spLocks noGrp="1"/>
          </p:cNvSpPr>
          <p:nvPr/>
        </p:nvSpPr>
        <p:spPr>
          <a:xfrm>
            <a:off x="2695575" y="33528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规范字段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82099FF-6846-4C1E-A8E9-83E851FE6C8B}"/>
              </a:ext>
            </a:extLst>
          </p:cNvPr>
          <p:cNvSpPr>
            <a:spLocks noGrp="1"/>
          </p:cNvSpPr>
          <p:nvPr/>
        </p:nvSpPr>
        <p:spPr>
          <a:xfrm>
            <a:off x="2524125" y="3829050"/>
            <a:ext cx="1962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类型、UTC、文本格式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A844E58-5311-4386-870E-1E0C58478234}"/>
              </a:ext>
            </a:extLst>
          </p:cNvPr>
          <p:cNvSpPr>
            <a:spLocks noGrp="1"/>
          </p:cNvSpPr>
          <p:nvPr/>
        </p:nvSpPr>
        <p:spPr>
          <a:xfrm>
            <a:off x="5086350" y="2447925"/>
            <a:ext cx="685800" cy="571500"/>
          </a:xfrm>
          <a:prstGeom prst="ellipse">
            <a:avLst/>
          </a:prstGeom>
          <a:solidFill>
            <a:srgbClr val="10243E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2720FE-E848-4EF5-9A86-CF4AFDBA8045}"/>
              </a:ext>
            </a:extLst>
          </p:cNvPr>
          <p:cNvSpPr>
            <a:spLocks noGrp="1"/>
          </p:cNvSpPr>
          <p:nvPr/>
        </p:nvSpPr>
        <p:spPr>
          <a:xfrm>
            <a:off x="4848225" y="33528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标记质量问题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5DD0C0-5EA8-4F0D-B4F3-766E53204750}"/>
              </a:ext>
            </a:extLst>
          </p:cNvPr>
          <p:cNvSpPr>
            <a:spLocks noGrp="1"/>
          </p:cNvSpPr>
          <p:nvPr/>
        </p:nvSpPr>
        <p:spPr>
          <a:xfrm>
            <a:off x="4676775" y="3829050"/>
            <a:ext cx="1962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空正文、重复、缺失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4C6F57B-7434-483C-B5FE-E5DDA52C6C17}"/>
              </a:ext>
            </a:extLst>
          </p:cNvPr>
          <p:cNvSpPr>
            <a:spLocks noGrp="1"/>
          </p:cNvSpPr>
          <p:nvPr/>
        </p:nvSpPr>
        <p:spPr>
          <a:xfrm>
            <a:off x="7239000" y="2447925"/>
            <a:ext cx="685800" cy="571500"/>
          </a:xfrm>
          <a:prstGeom prst="ellipse">
            <a:avLst/>
          </a:prstGeom>
          <a:solidFill>
            <a:srgbClr val="10243E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A2C9CC7-9E18-445B-A460-2866049FA1B4}"/>
              </a:ext>
            </a:extLst>
          </p:cNvPr>
          <p:cNvSpPr>
            <a:spLocks noGrp="1"/>
          </p:cNvSpPr>
          <p:nvPr/>
        </p:nvSpPr>
        <p:spPr>
          <a:xfrm>
            <a:off x="7000875" y="33528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关联商品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5195AC-3D85-4A41-A51A-2040D5B8A997}"/>
              </a:ext>
            </a:extLst>
          </p:cNvPr>
          <p:cNvSpPr>
            <a:spLocks noGrp="1"/>
          </p:cNvSpPr>
          <p:nvPr/>
        </p:nvSpPr>
        <p:spPr>
          <a:xfrm>
            <a:off x="6829425" y="3829050"/>
            <a:ext cx="1962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asin 与 parent_asin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E9D0463C-F55D-4502-869B-7DBEFBAB5F91}"/>
              </a:ext>
            </a:extLst>
          </p:cNvPr>
          <p:cNvSpPr>
            <a:spLocks noGrp="1"/>
          </p:cNvSpPr>
          <p:nvPr/>
        </p:nvSpPr>
        <p:spPr>
          <a:xfrm>
            <a:off x="9391650" y="2447925"/>
            <a:ext cx="685800" cy="571500"/>
          </a:xfrm>
          <a:prstGeom prst="ellipse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EB91D56-28A6-4B05-BD67-E99D3720954A}"/>
              </a:ext>
            </a:extLst>
          </p:cNvPr>
          <p:cNvSpPr>
            <a:spLocks noGrp="1"/>
          </p:cNvSpPr>
          <p:nvPr/>
        </p:nvSpPr>
        <p:spPr>
          <a:xfrm>
            <a:off x="9153525" y="3352800"/>
            <a:ext cx="1619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形成 Silver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77CD2FD-235F-4229-B66D-4EFBC66360E0}"/>
              </a:ext>
            </a:extLst>
          </p:cNvPr>
          <p:cNvSpPr>
            <a:spLocks noGrp="1"/>
          </p:cNvSpPr>
          <p:nvPr/>
        </p:nvSpPr>
        <p:spPr>
          <a:xfrm>
            <a:off x="8982075" y="3829050"/>
            <a:ext cx="19621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Parquet + 质量报告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94BCA67-F8A5-41BE-A545-02935924E27D}"/>
              </a:ext>
            </a:extLst>
          </p:cNvPr>
          <p:cNvSpPr>
            <a:spLocks noGrp="1"/>
          </p:cNvSpPr>
          <p:nvPr/>
        </p:nvSpPr>
        <p:spPr>
          <a:xfrm>
            <a:off x="800100" y="4838700"/>
            <a:ext cx="102870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65883DB-B21A-4668-AB9C-135B60DE8EE6}"/>
              </a:ext>
            </a:extLst>
          </p:cNvPr>
          <p:cNvSpPr>
            <a:spLocks noGrp="1"/>
          </p:cNvSpPr>
          <p:nvPr/>
        </p:nvSpPr>
        <p:spPr>
          <a:xfrm>
            <a:off x="800100" y="5172075"/>
            <a:ext cx="21907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2,128,605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76D966D-5189-4E6D-9BC7-E48F81F8A1C4}"/>
              </a:ext>
            </a:extLst>
          </p:cNvPr>
          <p:cNvSpPr>
            <a:spLocks noGrp="1"/>
          </p:cNvSpPr>
          <p:nvPr/>
        </p:nvSpPr>
        <p:spPr>
          <a:xfrm>
            <a:off x="2952750" y="526732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评论全部保留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B9B88BB-9931-4005-8807-0854CD38A3EA}"/>
              </a:ext>
            </a:extLst>
          </p:cNvPr>
          <p:cNvSpPr>
            <a:spLocks noGrp="1"/>
          </p:cNvSpPr>
          <p:nvPr/>
        </p:nvSpPr>
        <p:spPr>
          <a:xfrm>
            <a:off x="5695950" y="5172075"/>
            <a:ext cx="138112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7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94770F4-AB70-4DD3-8D47-EF88DD0B86D1}"/>
              </a:ext>
            </a:extLst>
          </p:cNvPr>
          <p:cNvSpPr>
            <a:spLocks noGrp="1"/>
          </p:cNvSpPr>
          <p:nvPr/>
        </p:nvSpPr>
        <p:spPr>
          <a:xfrm>
            <a:off x="7048500" y="5267325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关联商品元数据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412E455-DA98-427E-8BC7-7FD621781D12}"/>
              </a:ext>
            </a:extLst>
          </p:cNvPr>
          <p:cNvSpPr>
            <a:spLocks noGrp="1"/>
          </p:cNvSpPr>
          <p:nvPr/>
        </p:nvSpPr>
        <p:spPr>
          <a:xfrm>
            <a:off x="800100" y="590550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原文不覆盖 · 异常留标记 · 去向可核对</a:t>
            </a:r>
          </a:p>
        </p:txBody>
      </p:sp>
    </p:spTree>
    <p:extLst>
      <p:ext uri="{BB962C8B-B14F-4D97-AF65-F5344CB8AC3E}">
        <p14:creationId xmlns:p14="http://schemas.microsoft.com/office/powerpoint/2010/main" val="60294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3022954E-57F0-440A-827D-552C6FE98A6E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3861BEF-0377-4F3E-8C94-D35E01BEC10E}"/>
              </a:ext>
            </a:extLst>
          </p:cNvPr>
          <p:cNvSpPr>
            <a:spLocks noGrp="1"/>
          </p:cNvSpPr>
          <p:nvPr/>
        </p:nvSpPr>
        <p:spPr>
          <a:xfrm>
            <a:off x="685800" y="7524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四层架构把离线计算、业务查询和可视化连成一条链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4916265-01C6-4FA7-B0F7-28470024B019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AF5FA74-874E-480F-B652-4B7B87883F32}"/>
              </a:ext>
            </a:extLst>
          </p:cNvPr>
          <p:cNvSpPr>
            <a:spLocks noGrp="1"/>
          </p:cNvSpPr>
          <p:nvPr/>
        </p:nvSpPr>
        <p:spPr>
          <a:xfrm>
            <a:off x="11068050" y="63246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41981F1-DFDD-4C06-9320-03BFF88B8722}"/>
              </a:ext>
            </a:extLst>
          </p:cNvPr>
          <p:cNvSpPr>
            <a:spLocks noGrp="1"/>
          </p:cNvSpPr>
          <p:nvPr/>
        </p:nvSpPr>
        <p:spPr>
          <a:xfrm>
            <a:off x="800100" y="1809750"/>
            <a:ext cx="76200" cy="666750"/>
          </a:xfrm>
          <a:prstGeom prst="rect">
            <a:avLst/>
          </a:prstGeom>
          <a:solidFill>
            <a:srgbClr val="FF9900"/>
          </a:solidFill>
          <a:ln w="0">
            <a:solidFill>
              <a:srgbClr val="FF990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409AFEA-B579-46BE-90E8-7FA3584557EC}"/>
              </a:ext>
            </a:extLst>
          </p:cNvPr>
          <p:cNvSpPr>
            <a:spLocks noGrp="1"/>
          </p:cNvSpPr>
          <p:nvPr/>
        </p:nvSpPr>
        <p:spPr>
          <a:xfrm>
            <a:off x="1066800" y="180975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① 交互层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7168F-937B-4A2A-985A-3351CA49A11E}"/>
              </a:ext>
            </a:extLst>
          </p:cNvPr>
          <p:cNvSpPr>
            <a:spLocks noGrp="1"/>
          </p:cNvSpPr>
          <p:nvPr/>
        </p:nvSpPr>
        <p:spPr>
          <a:xfrm>
            <a:off x="3714750" y="179070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Vue · ECharts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D2E2F0-231D-4C89-9B92-2CDF14E20896}"/>
              </a:ext>
            </a:extLst>
          </p:cNvPr>
          <p:cNvSpPr>
            <a:spLocks noGrp="1"/>
          </p:cNvSpPr>
          <p:nvPr/>
        </p:nvSpPr>
        <p:spPr>
          <a:xfrm>
            <a:off x="7429500" y="1819275"/>
            <a:ext cx="381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组合概览、趋势、问题、需求、原文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6A98C30-C0C1-4F64-8C0C-99DCCE86AB75}"/>
              </a:ext>
            </a:extLst>
          </p:cNvPr>
          <p:cNvSpPr>
            <a:spLocks noGrp="1"/>
          </p:cNvSpPr>
          <p:nvPr/>
        </p:nvSpPr>
        <p:spPr>
          <a:xfrm>
            <a:off x="1066800" y="2562225"/>
            <a:ext cx="101727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544F267-8A9D-4DBB-8C24-6BC29F96120B}"/>
              </a:ext>
            </a:extLst>
          </p:cNvPr>
          <p:cNvSpPr>
            <a:spLocks noGrp="1"/>
          </p:cNvSpPr>
          <p:nvPr/>
        </p:nvSpPr>
        <p:spPr>
          <a:xfrm>
            <a:off x="800100" y="2714625"/>
            <a:ext cx="76200" cy="666750"/>
          </a:xfrm>
          <a:prstGeom prst="rect">
            <a:avLst/>
          </a:prstGeom>
          <a:solidFill>
            <a:srgbClr val="2F6FED"/>
          </a:solidFill>
          <a:ln w="0">
            <a:solidFill>
              <a:srgbClr val="2F6FE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7448CF-761F-4640-8A63-5CEBC20AA522}"/>
              </a:ext>
            </a:extLst>
          </p:cNvPr>
          <p:cNvSpPr>
            <a:spLocks noGrp="1"/>
          </p:cNvSpPr>
          <p:nvPr/>
        </p:nvSpPr>
        <p:spPr>
          <a:xfrm>
            <a:off x="1066800" y="271462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② 业务逻辑层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2DC8B2D-BE32-4B4A-BA97-5364A82EB371}"/>
              </a:ext>
            </a:extLst>
          </p:cNvPr>
          <p:cNvSpPr>
            <a:spLocks noGrp="1"/>
          </p:cNvSpPr>
          <p:nvPr/>
        </p:nvSpPr>
        <p:spPr>
          <a:xfrm>
            <a:off x="3714750" y="2695575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C81AFDE-27D1-4D48-86D5-E241E1332D00}"/>
              </a:ext>
            </a:extLst>
          </p:cNvPr>
          <p:cNvSpPr>
            <a:spLocks noGrp="1"/>
          </p:cNvSpPr>
          <p:nvPr/>
        </p:nvSpPr>
        <p:spPr>
          <a:xfrm>
            <a:off x="7429500" y="2724150"/>
            <a:ext cx="381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封装筛选、下钻与证据查询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7C1E7F-ED38-4BD8-A76D-9E961DAE25B0}"/>
              </a:ext>
            </a:extLst>
          </p:cNvPr>
          <p:cNvSpPr>
            <a:spLocks noGrp="1"/>
          </p:cNvSpPr>
          <p:nvPr/>
        </p:nvSpPr>
        <p:spPr>
          <a:xfrm>
            <a:off x="1066800" y="3467100"/>
            <a:ext cx="101727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851CC14-F0E5-41C1-87D6-064F173394CC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76200" cy="666750"/>
          </a:xfrm>
          <a:prstGeom prst="rect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BC889F3-F6BF-453F-86C2-EC1A58FB11E4}"/>
              </a:ext>
            </a:extLst>
          </p:cNvPr>
          <p:cNvSpPr>
            <a:spLocks noGrp="1"/>
          </p:cNvSpPr>
          <p:nvPr/>
        </p:nvSpPr>
        <p:spPr>
          <a:xfrm>
            <a:off x="1066800" y="36195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③ 数据管理与挖掘层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237E357-98C1-459D-AFB0-A452378A8627}"/>
              </a:ext>
            </a:extLst>
          </p:cNvPr>
          <p:cNvSpPr>
            <a:spLocks noGrp="1"/>
          </p:cNvSpPr>
          <p:nvPr/>
        </p:nvSpPr>
        <p:spPr>
          <a:xfrm>
            <a:off x="3714750" y="3600450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MongoDB · Gold 分析结果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D92D8A6-99AD-43AC-B000-EE9711649E20}"/>
              </a:ext>
            </a:extLst>
          </p:cNvPr>
          <p:cNvSpPr>
            <a:spLocks noGrp="1"/>
          </p:cNvSpPr>
          <p:nvPr/>
        </p:nvSpPr>
        <p:spPr>
          <a:xfrm>
            <a:off x="7429500" y="3629025"/>
            <a:ext cx="381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面向业务查询组织主题、指标与批次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BDAC030-DF81-4DAB-B32F-6E02FE98C5CE}"/>
              </a:ext>
            </a:extLst>
          </p:cNvPr>
          <p:cNvSpPr>
            <a:spLocks noGrp="1"/>
          </p:cNvSpPr>
          <p:nvPr/>
        </p:nvSpPr>
        <p:spPr>
          <a:xfrm>
            <a:off x="1066800" y="4371975"/>
            <a:ext cx="101727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79CD126-DBAC-43A6-950D-A44BB1C86558}"/>
              </a:ext>
            </a:extLst>
          </p:cNvPr>
          <p:cNvSpPr>
            <a:spLocks noGrp="1"/>
          </p:cNvSpPr>
          <p:nvPr/>
        </p:nvSpPr>
        <p:spPr>
          <a:xfrm>
            <a:off x="800100" y="4524375"/>
            <a:ext cx="76200" cy="666750"/>
          </a:xfrm>
          <a:prstGeom prst="rect">
            <a:avLst/>
          </a:prstGeom>
          <a:solidFill>
            <a:srgbClr val="10243E"/>
          </a:solidFill>
          <a:ln w="0">
            <a:solidFill>
              <a:srgbClr val="10243E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B0F7666-4247-4E5C-A365-8AAAF5A91785}"/>
              </a:ext>
            </a:extLst>
          </p:cNvPr>
          <p:cNvSpPr>
            <a:spLocks noGrp="1"/>
          </p:cNvSpPr>
          <p:nvPr/>
        </p:nvSpPr>
        <p:spPr>
          <a:xfrm>
            <a:off x="1066800" y="4524375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④ 大数据处理层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F9B9A12-7559-4D6B-9C4E-940AB0BCA781}"/>
              </a:ext>
            </a:extLst>
          </p:cNvPr>
          <p:cNvSpPr>
            <a:spLocks noGrp="1"/>
          </p:cNvSpPr>
          <p:nvPr/>
        </p:nvSpPr>
        <p:spPr>
          <a:xfrm>
            <a:off x="3714750" y="4505325"/>
            <a:ext cx="361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110"/>
          </a:bodyPr>
          <a:lstStyle/>
          <a:p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Spark · Bronze → Silver Parquet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DADBA7B-0622-444A-93CF-6F8B7BC6B6F2}"/>
              </a:ext>
            </a:extLst>
          </p:cNvPr>
          <p:cNvSpPr>
            <a:spLocks noGrp="1"/>
          </p:cNvSpPr>
          <p:nvPr/>
        </p:nvSpPr>
        <p:spPr>
          <a:xfrm>
            <a:off x="7429500" y="4533900"/>
            <a:ext cx="3810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全量清洗、关联、聚合、血缘与质量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5E7B27C-2F76-41A7-AE35-ED9C0896B8F6}"/>
              </a:ext>
            </a:extLst>
          </p:cNvPr>
          <p:cNvSpPr>
            <a:spLocks noGrp="1"/>
          </p:cNvSpPr>
          <p:nvPr/>
        </p:nvSpPr>
        <p:spPr>
          <a:xfrm>
            <a:off x="800100" y="5676900"/>
            <a:ext cx="809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查询链路向上响应；离线结果由 Spark 写回后再进入业务查询。</a:t>
            </a:r>
          </a:p>
        </p:txBody>
      </p:sp>
    </p:spTree>
    <p:extLst>
      <p:ext uri="{BB962C8B-B14F-4D97-AF65-F5344CB8AC3E}">
        <p14:creationId xmlns:p14="http://schemas.microsoft.com/office/powerpoint/2010/main" val="434201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A3E8467D-52FC-4EF6-9669-51E907283A9D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5443D1-3134-47C6-8BB3-351D9F486B45}"/>
              </a:ext>
            </a:extLst>
          </p:cNvPr>
          <p:cNvSpPr>
            <a:spLocks noGrp="1"/>
          </p:cNvSpPr>
          <p:nvPr/>
        </p:nvSpPr>
        <p:spPr>
          <a:xfrm>
            <a:off x="685800" y="7524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第一周已经打通覆盖四层开发的运行环境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CE3BE90-A1AC-4ABC-878A-C4B779D148D0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AF9C6BD-E46D-485A-A845-512278255694}"/>
              </a:ext>
            </a:extLst>
          </p:cNvPr>
          <p:cNvSpPr>
            <a:spLocks noGrp="1"/>
          </p:cNvSpPr>
          <p:nvPr/>
        </p:nvSpPr>
        <p:spPr>
          <a:xfrm>
            <a:off x="11068050" y="63246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6295F35-6C3C-4458-AD8D-6790AEBB7787}"/>
              </a:ext>
            </a:extLst>
          </p:cNvPr>
          <p:cNvSpPr>
            <a:spLocks noGrp="1"/>
          </p:cNvSpPr>
          <p:nvPr/>
        </p:nvSpPr>
        <p:spPr>
          <a:xfrm>
            <a:off x="838200" y="19240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分布式计算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783B852-418A-4EF0-9943-19AF2E69DAC8}"/>
              </a:ext>
            </a:extLst>
          </p:cNvPr>
          <p:cNvSpPr>
            <a:spLocks noGrp="1"/>
          </p:cNvSpPr>
          <p:nvPr/>
        </p:nvSpPr>
        <p:spPr>
          <a:xfrm>
            <a:off x="2857500" y="1895475"/>
            <a:ext cx="504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Spark 4.1.2 · 1 Master + 2 Worker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F329CD5-3987-4D9B-A7CF-FC0211D84C98}"/>
              </a:ext>
            </a:extLst>
          </p:cNvPr>
          <p:cNvSpPr>
            <a:spLocks noGrp="1"/>
          </p:cNvSpPr>
          <p:nvPr/>
        </p:nvSpPr>
        <p:spPr>
          <a:xfrm>
            <a:off x="8096250" y="193357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Java 21 · 两个执行器实际参与任务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8F21038-ED13-40C6-90ED-B88C969F3986}"/>
              </a:ext>
            </a:extLst>
          </p:cNvPr>
          <p:cNvSpPr>
            <a:spLocks noGrp="1"/>
          </p:cNvSpPr>
          <p:nvPr/>
        </p:nvSpPr>
        <p:spPr>
          <a:xfrm>
            <a:off x="838200" y="2533650"/>
            <a:ext cx="102870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A9FC6F2-D304-4FE8-88AF-348BA6B659F6}"/>
              </a:ext>
            </a:extLst>
          </p:cNvPr>
          <p:cNvSpPr>
            <a:spLocks noGrp="1"/>
          </p:cNvSpPr>
          <p:nvPr/>
        </p:nvSpPr>
        <p:spPr>
          <a:xfrm>
            <a:off x="838200" y="28194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数据管理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76D6A6-8DC3-4730-95FC-A71FDAD59EF0}"/>
              </a:ext>
            </a:extLst>
          </p:cNvPr>
          <p:cNvSpPr>
            <a:spLocks noGrp="1"/>
          </p:cNvSpPr>
          <p:nvPr/>
        </p:nvSpPr>
        <p:spPr>
          <a:xfrm>
            <a:off x="2857500" y="2790825"/>
            <a:ext cx="504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MongoDB 8.0.29 · Spark Connector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4E3606E-67D6-45AC-A41B-2FF9A953441B}"/>
              </a:ext>
            </a:extLst>
          </p:cNvPr>
          <p:cNvSpPr>
            <a:spLocks noGrp="1"/>
          </p:cNvSpPr>
          <p:nvPr/>
        </p:nvSpPr>
        <p:spPr>
          <a:xfrm>
            <a:off x="8096250" y="28289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隔离存储 · 连接器读写已验证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0DD0890-2570-473D-9A92-2414F90C9543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102870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BB362A7-285E-477D-86FF-33675AE9C2BE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Web 链路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F87A44B-B011-4177-B59D-EAB761239CA2}"/>
              </a:ext>
            </a:extLst>
          </p:cNvPr>
          <p:cNvSpPr>
            <a:spLocks noGrp="1"/>
          </p:cNvSpPr>
          <p:nvPr/>
        </p:nvSpPr>
        <p:spPr>
          <a:xfrm>
            <a:off x="2857500" y="3686175"/>
            <a:ext cx="504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FastAPI · Vue · ECharts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36E38B-42DC-427E-B6AD-00134E226386}"/>
              </a:ext>
            </a:extLst>
          </p:cNvPr>
          <p:cNvSpPr>
            <a:spLocks noGrp="1"/>
          </p:cNvSpPr>
          <p:nvPr/>
        </p:nvSpPr>
        <p:spPr>
          <a:xfrm>
            <a:off x="8096250" y="372427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前后端最小链路已运行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B8C9416-2C15-401F-BFA9-8FD25A0187E4}"/>
              </a:ext>
            </a:extLst>
          </p:cNvPr>
          <p:cNvSpPr>
            <a:spLocks noGrp="1"/>
          </p:cNvSpPr>
          <p:nvPr/>
        </p:nvSpPr>
        <p:spPr>
          <a:xfrm>
            <a:off x="838200" y="4324350"/>
            <a:ext cx="102870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D51D23-2DBD-4E25-8D78-668D0B8C1251}"/>
              </a:ext>
            </a:extLst>
          </p:cNvPr>
          <p:cNvSpPr>
            <a:spLocks noGrp="1"/>
          </p:cNvSpPr>
          <p:nvPr/>
        </p:nvSpPr>
        <p:spPr>
          <a:xfrm>
            <a:off x="838200" y="46101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文本分析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B5FCBA-1FA6-46C8-AC65-DD03067AACD1}"/>
              </a:ext>
            </a:extLst>
          </p:cNvPr>
          <p:cNvSpPr>
            <a:spLocks noGrp="1"/>
          </p:cNvSpPr>
          <p:nvPr/>
        </p:nvSpPr>
        <p:spPr>
          <a:xfrm>
            <a:off x="2857500" y="4581525"/>
            <a:ext cx="504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Python 3.12 · CPU / Intel XPU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8B2C2EB-596A-4C19-A6C2-45CAD91967E4}"/>
              </a:ext>
            </a:extLst>
          </p:cNvPr>
          <p:cNvSpPr>
            <a:spLocks noGrp="1"/>
          </p:cNvSpPr>
          <p:nvPr/>
        </p:nvSpPr>
        <p:spPr>
          <a:xfrm>
            <a:off x="8096250" y="4619625"/>
            <a:ext cx="304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基础模型与设备环境已验证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00BCD95-4ABA-41C1-8FA2-77B8FC4A7AA6}"/>
              </a:ext>
            </a:extLst>
          </p:cNvPr>
          <p:cNvSpPr>
            <a:spLocks noGrp="1"/>
          </p:cNvSpPr>
          <p:nvPr/>
        </p:nvSpPr>
        <p:spPr>
          <a:xfrm>
            <a:off x="838200" y="5676900"/>
            <a:ext cx="8667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7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环境已经完成，第二周工作从存储建模与文本挖掘开始。</a:t>
            </a:r>
          </a:p>
        </p:txBody>
      </p:sp>
    </p:spTree>
    <p:extLst>
      <p:ext uri="{BB962C8B-B14F-4D97-AF65-F5344CB8AC3E}">
        <p14:creationId xmlns:p14="http://schemas.microsoft.com/office/powerpoint/2010/main" val="574493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02DF9C1-902F-413F-ADFB-94C82F7B96B2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DACEE81-B127-458E-8311-58824F8A9110}"/>
              </a:ext>
            </a:extLst>
          </p:cNvPr>
          <p:cNvSpPr>
            <a:spLocks noGrp="1"/>
          </p:cNvSpPr>
          <p:nvPr/>
        </p:nvSpPr>
        <p:spPr>
          <a:xfrm>
            <a:off x="685800" y="7524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SDD 让 AI 辅助开发留下可解释、可复现的过程证据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990121-F484-4235-B5AB-D4911C7F7A07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08A149-2176-4DFD-8470-46619BB10D4E}"/>
              </a:ext>
            </a:extLst>
          </p:cNvPr>
          <p:cNvSpPr>
            <a:spLocks noGrp="1"/>
          </p:cNvSpPr>
          <p:nvPr/>
        </p:nvSpPr>
        <p:spPr>
          <a:xfrm>
            <a:off x="11068050" y="63246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3342F5-EBAA-49C8-9E60-E44B084B526B}"/>
              </a:ext>
            </a:extLst>
          </p:cNvPr>
          <p:cNvSpPr>
            <a:spLocks noGrp="1"/>
          </p:cNvSpPr>
          <p:nvPr/>
        </p:nvSpPr>
        <p:spPr>
          <a:xfrm>
            <a:off x="1238250" y="2895600"/>
            <a:ext cx="8096250" cy="38100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05BB805C-A929-4DCC-BDB9-D4E52166F8F6}"/>
              </a:ext>
            </a:extLst>
          </p:cNvPr>
          <p:cNvSpPr>
            <a:spLocks noGrp="1"/>
          </p:cNvSpPr>
          <p:nvPr/>
        </p:nvSpPr>
        <p:spPr>
          <a:xfrm>
            <a:off x="838200" y="2609850"/>
            <a:ext cx="590550" cy="590550"/>
          </a:xfrm>
          <a:prstGeom prst="ellipse">
            <a:avLst/>
          </a:prstGeom>
          <a:solidFill>
            <a:srgbClr val="10243E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4274480-43AE-4A74-9B4A-F9ED61D40CB4}"/>
              </a:ext>
            </a:extLst>
          </p:cNvPr>
          <p:cNvSpPr>
            <a:spLocks noGrp="1"/>
          </p:cNvSpPr>
          <p:nvPr/>
        </p:nvSpPr>
        <p:spPr>
          <a:xfrm>
            <a:off x="647700" y="3476625"/>
            <a:ext cx="1466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需求规约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EE9C9D9-D03B-4CFD-8562-88C134A35EBD}"/>
              </a:ext>
            </a:extLst>
          </p:cNvPr>
          <p:cNvSpPr>
            <a:spLocks noGrp="1"/>
          </p:cNvSpPr>
          <p:nvPr/>
        </p:nvSpPr>
        <p:spPr>
          <a:xfrm>
            <a:off x="495300" y="3933825"/>
            <a:ext cx="1771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业务场景与边界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92035EE-F824-406A-BFC7-20341C70B574}"/>
              </a:ext>
            </a:extLst>
          </p:cNvPr>
          <p:cNvSpPr>
            <a:spLocks noGrp="1"/>
          </p:cNvSpPr>
          <p:nvPr/>
        </p:nvSpPr>
        <p:spPr>
          <a:xfrm>
            <a:off x="2857500" y="2609850"/>
            <a:ext cx="590550" cy="590550"/>
          </a:xfrm>
          <a:prstGeom prst="ellipse">
            <a:avLst/>
          </a:prstGeom>
          <a:solidFill>
            <a:srgbClr val="10243E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6B8B23-F3E6-4BEC-AE5C-3716E2B36BE3}"/>
              </a:ext>
            </a:extLst>
          </p:cNvPr>
          <p:cNvSpPr>
            <a:spLocks noGrp="1"/>
          </p:cNvSpPr>
          <p:nvPr/>
        </p:nvSpPr>
        <p:spPr>
          <a:xfrm>
            <a:off x="2667000" y="3476625"/>
            <a:ext cx="1466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设计计划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7BF746-1654-4612-AEA9-06EAD7DD5567}"/>
              </a:ext>
            </a:extLst>
          </p:cNvPr>
          <p:cNvSpPr>
            <a:spLocks noGrp="1"/>
          </p:cNvSpPr>
          <p:nvPr/>
        </p:nvSpPr>
        <p:spPr>
          <a:xfrm>
            <a:off x="2514600" y="3933825"/>
            <a:ext cx="1771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四层架构与技术选型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536B8F9-6A71-4647-89D7-A0BBECC0F385}"/>
              </a:ext>
            </a:extLst>
          </p:cNvPr>
          <p:cNvSpPr>
            <a:spLocks noGrp="1"/>
          </p:cNvSpPr>
          <p:nvPr/>
        </p:nvSpPr>
        <p:spPr>
          <a:xfrm>
            <a:off x="4876800" y="2609850"/>
            <a:ext cx="590550" cy="590550"/>
          </a:xfrm>
          <a:prstGeom prst="ellipse">
            <a:avLst/>
          </a:prstGeom>
          <a:solidFill>
            <a:srgbClr val="10243E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9A740C-1B12-4DC4-B9C5-8739D3146180}"/>
              </a:ext>
            </a:extLst>
          </p:cNvPr>
          <p:cNvSpPr>
            <a:spLocks noGrp="1"/>
          </p:cNvSpPr>
          <p:nvPr/>
        </p:nvSpPr>
        <p:spPr>
          <a:xfrm>
            <a:off x="4686300" y="3476625"/>
            <a:ext cx="1466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任务拆分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8C2983-7F85-4DAD-82F8-A2EB31C97F9A}"/>
              </a:ext>
            </a:extLst>
          </p:cNvPr>
          <p:cNvSpPr>
            <a:spLocks noGrp="1"/>
          </p:cNvSpPr>
          <p:nvPr/>
        </p:nvSpPr>
        <p:spPr>
          <a:xfrm>
            <a:off x="4533900" y="3933825"/>
            <a:ext cx="1771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依赖、顺序、验收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E4CB04A-6F9A-47A5-ABD0-DD1E6051BD94}"/>
              </a:ext>
            </a:extLst>
          </p:cNvPr>
          <p:cNvSpPr>
            <a:spLocks noGrp="1"/>
          </p:cNvSpPr>
          <p:nvPr/>
        </p:nvSpPr>
        <p:spPr>
          <a:xfrm>
            <a:off x="6896100" y="2609850"/>
            <a:ext cx="590550" cy="590550"/>
          </a:xfrm>
          <a:prstGeom prst="ellipse">
            <a:avLst/>
          </a:prstGeom>
          <a:solidFill>
            <a:srgbClr val="10243E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AF54CCC-FDC3-4231-8E03-B3F9DE4E96D8}"/>
              </a:ext>
            </a:extLst>
          </p:cNvPr>
          <p:cNvSpPr>
            <a:spLocks noGrp="1"/>
          </p:cNvSpPr>
          <p:nvPr/>
        </p:nvSpPr>
        <p:spPr>
          <a:xfrm>
            <a:off x="6705600" y="3476625"/>
            <a:ext cx="1466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测试与实现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89D378-0A6A-415F-B61E-68B57E1B98CD}"/>
              </a:ext>
            </a:extLst>
          </p:cNvPr>
          <p:cNvSpPr>
            <a:spLocks noGrp="1"/>
          </p:cNvSpPr>
          <p:nvPr/>
        </p:nvSpPr>
        <p:spPr>
          <a:xfrm>
            <a:off x="6553200" y="3933825"/>
            <a:ext cx="1771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先固定规则再编码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7A52A73-2384-4F1D-B7D1-8B855EAFB007}"/>
              </a:ext>
            </a:extLst>
          </p:cNvPr>
          <p:cNvSpPr>
            <a:spLocks noGrp="1"/>
          </p:cNvSpPr>
          <p:nvPr/>
        </p:nvSpPr>
        <p:spPr>
          <a:xfrm>
            <a:off x="8915400" y="2609850"/>
            <a:ext cx="590550" cy="590550"/>
          </a:xfrm>
          <a:prstGeom prst="ellipse">
            <a:avLst/>
          </a:prstGeom>
          <a:solidFill>
            <a:srgbClr val="FF9900"/>
          </a:solidFill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8D4EC32-B5DB-4BC7-92DF-6FE48676BB01}"/>
              </a:ext>
            </a:extLst>
          </p:cNvPr>
          <p:cNvSpPr>
            <a:spLocks noGrp="1"/>
          </p:cNvSpPr>
          <p:nvPr/>
        </p:nvSpPr>
        <p:spPr>
          <a:xfrm>
            <a:off x="8724900" y="3476625"/>
            <a:ext cx="14668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运行证据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A6EEDA-DB24-4AB6-A74C-E475459A6A4F}"/>
              </a:ext>
            </a:extLst>
          </p:cNvPr>
          <p:cNvSpPr>
            <a:spLocks noGrp="1"/>
          </p:cNvSpPr>
          <p:nvPr/>
        </p:nvSpPr>
        <p:spPr>
          <a:xfrm>
            <a:off x="8572500" y="3933825"/>
            <a:ext cx="17716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批次、数量、提示词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8C36ECE-2078-4D44-9E84-A5EC17D87EE8}"/>
              </a:ext>
            </a:extLst>
          </p:cNvPr>
          <p:cNvSpPr>
            <a:spLocks noGrp="1"/>
          </p:cNvSpPr>
          <p:nvPr/>
        </p:nvSpPr>
        <p:spPr>
          <a:xfrm>
            <a:off x="838200" y="5133975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27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已经形成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6BDB690-5E62-490E-854F-ADEBADC3E540}"/>
              </a:ext>
            </a:extLst>
          </p:cNvPr>
          <p:cNvSpPr>
            <a:spLocks noGrp="1"/>
          </p:cNvSpPr>
          <p:nvPr/>
        </p:nvSpPr>
        <p:spPr>
          <a:xfrm>
            <a:off x="2171700" y="5095875"/>
            <a:ext cx="8572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spec.md · plan.md · tasks.md · 清洗增量规约 · 测试证据 · 完整提示词记录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2EEDBE9-5F79-4DF8-8BFD-F2412D259245}"/>
              </a:ext>
            </a:extLst>
          </p:cNvPr>
          <p:cNvSpPr>
            <a:spLocks noGrp="1"/>
          </p:cNvSpPr>
          <p:nvPr/>
        </p:nvSpPr>
        <p:spPr>
          <a:xfrm>
            <a:off x="838200" y="5695950"/>
            <a:ext cx="990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350" b="0">
                <a:solidFill>
                  <a:srgbClr val="C94B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4B45"/>
                </a:solidFill>
                <a:latin typeface="Microsoft YaHei"/>
                <a:ea typeface="Microsoft YaHei"/>
                <a:cs typeface="Microsoft YaHei"/>
              </a:rPr>
              <a:t>答辩重点：讲清每一层为什么这样设计，而不是展示 AI 生成了多少代码。</a:t>
            </a:r>
          </a:p>
        </p:txBody>
      </p:sp>
    </p:spTree>
    <p:extLst>
      <p:ext uri="{BB962C8B-B14F-4D97-AF65-F5344CB8AC3E}">
        <p14:creationId xmlns:p14="http://schemas.microsoft.com/office/powerpoint/2010/main" val="1003217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2650DA7-4613-4E88-9CF7-4343AAD21C06}"/>
              </a:ext>
            </a:extLst>
          </p:cNvPr>
          <p:cNvSpPr>
            <a:spLocks noGrp="1"/>
          </p:cNvSpPr>
          <p:nvPr/>
        </p:nvSpPr>
        <p:spPr>
          <a:xfrm>
            <a:off x="685800" y="419100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90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WEEK 1 · TOPIC CONFIRMATION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B04DA2D-1F02-4890-A071-0B8CEE3B0713}"/>
              </a:ext>
            </a:extLst>
          </p:cNvPr>
          <p:cNvSpPr>
            <a:spLocks noGrp="1"/>
          </p:cNvSpPr>
          <p:nvPr/>
        </p:nvSpPr>
        <p:spPr>
          <a:xfrm>
            <a:off x="685800" y="752475"/>
            <a:ext cx="108204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28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本次请确认四件事，通过后进入核心功能开发</a:t>
            </a:r>
            <a:endParaRPr sz="2850" b="1" dirty="0">
              <a:solidFill>
                <a:srgbClr val="1024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104624-2066-4C7E-A1B5-C66E8E3F2BED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BA084B1-6EC2-4BB1-ABFC-1205CFEFC9DE}"/>
              </a:ext>
            </a:extLst>
          </p:cNvPr>
          <p:cNvSpPr>
            <a:spLocks noGrp="1"/>
          </p:cNvSpPr>
          <p:nvPr/>
        </p:nvSpPr>
        <p:spPr>
          <a:xfrm>
            <a:off x="11068050" y="6324600"/>
            <a:ext cx="4381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def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96A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12C6173-9A3C-4C03-921E-62A6EF49079C}"/>
              </a:ext>
            </a:extLst>
          </p:cNvPr>
          <p:cNvSpPr>
            <a:spLocks noGrp="1"/>
          </p:cNvSpPr>
          <p:nvPr/>
        </p:nvSpPr>
        <p:spPr>
          <a:xfrm>
            <a:off x="838200" y="1762125"/>
            <a:ext cx="1066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选题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851451-E647-402B-9705-936EF1FC6C86}"/>
              </a:ext>
            </a:extLst>
          </p:cNvPr>
          <p:cNvSpPr>
            <a:spLocks noGrp="1"/>
          </p:cNvSpPr>
          <p:nvPr/>
        </p:nvSpPr>
        <p:spPr>
          <a:xfrm>
            <a:off x="2171700" y="173355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Amazon </a:t>
            </a:r>
            <a:r>
              <a:rPr sz="1800" b="1" dirty="0" err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家电评论：问题优先级、需求发现与质量变化</a:t>
            </a:r>
            <a:endParaRPr sz="1800" b="1" dirty="0">
              <a:solidFill>
                <a:srgbClr val="1024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3F63B6-6B03-4DA3-B006-B56F6B22120D}"/>
              </a:ext>
            </a:extLst>
          </p:cNvPr>
          <p:cNvSpPr>
            <a:spLocks noGrp="1"/>
          </p:cNvSpPr>
          <p:nvPr/>
        </p:nvSpPr>
        <p:spPr>
          <a:xfrm>
            <a:off x="838200" y="2409825"/>
            <a:ext cx="99060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BFD086-8B3F-4DCF-A7E7-C8190C5549D5}"/>
              </a:ext>
            </a:extLst>
          </p:cNvPr>
          <p:cNvSpPr>
            <a:spLocks noGrp="1"/>
          </p:cNvSpPr>
          <p:nvPr/>
        </p:nvSpPr>
        <p:spPr>
          <a:xfrm>
            <a:off x="838200" y="2647950"/>
            <a:ext cx="1066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A6A6"/>
                </a:solidFill>
                <a:latin typeface="Microsoft YaHei"/>
                <a:ea typeface="Microsoft YaHei"/>
                <a:cs typeface="Microsoft YaHei"/>
              </a:rPr>
              <a:t>数据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F6B58C-C4DF-468C-9826-7B2A8771EFAA}"/>
              </a:ext>
            </a:extLst>
          </p:cNvPr>
          <p:cNvSpPr>
            <a:spLocks noGrp="1"/>
          </p:cNvSpPr>
          <p:nvPr/>
        </p:nvSpPr>
        <p:spPr>
          <a:xfrm>
            <a:off x="2171700" y="2619375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Amazon Reviews 2023 Appliances：213万评论 + 9.4万商品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F2D9F1-CADD-4323-96CE-BEE26C7EB5B5}"/>
              </a:ext>
            </a:extLst>
          </p:cNvPr>
          <p:cNvSpPr>
            <a:spLocks noGrp="1"/>
          </p:cNvSpPr>
          <p:nvPr/>
        </p:nvSpPr>
        <p:spPr>
          <a:xfrm>
            <a:off x="838200" y="3295650"/>
            <a:ext cx="99060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D2BB64-1B4E-4B61-8381-0F58B6B84F35}"/>
              </a:ext>
            </a:extLst>
          </p:cNvPr>
          <p:cNvSpPr>
            <a:spLocks noGrp="1"/>
          </p:cNvSpPr>
          <p:nvPr/>
        </p:nvSpPr>
        <p:spPr>
          <a:xfrm>
            <a:off x="838200" y="3533775"/>
            <a:ext cx="1066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F6FED"/>
                </a:solidFill>
                <a:latin typeface="Microsoft YaHei"/>
                <a:ea typeface="Microsoft YaHei"/>
                <a:cs typeface="Microsoft YaHei"/>
              </a:rPr>
              <a:t>范围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6FDED27-3B70-49BF-872A-328687B31EA6}"/>
              </a:ext>
            </a:extLst>
          </p:cNvPr>
          <p:cNvSpPr>
            <a:spLocks noGrp="1"/>
          </p:cNvSpPr>
          <p:nvPr/>
        </p:nvSpPr>
        <p:spPr>
          <a:xfrm>
            <a:off x="2171700" y="35052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Spark + MongoDB + </a:t>
            </a:r>
            <a:r>
              <a:rPr sz="1800" b="1" dirty="0" err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FastAPI</a:t>
            </a:r>
            <a:r>
              <a:rPr sz="1800" b="1" dirty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 + Vue </a:t>
            </a:r>
            <a:r>
              <a:rPr sz="1800" b="1" dirty="0" err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的四层</a:t>
            </a:r>
            <a:r>
              <a:rPr sz="1800" b="1" dirty="0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 Web </a:t>
            </a:r>
            <a:r>
              <a:rPr sz="1800" b="1" dirty="0" err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应用</a:t>
            </a:r>
            <a:endParaRPr sz="1800" b="1" dirty="0">
              <a:solidFill>
                <a:srgbClr val="1024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9B2F90-8C0D-4273-8754-1B52F59D342F}"/>
              </a:ext>
            </a:extLst>
          </p:cNvPr>
          <p:cNvSpPr>
            <a:spLocks noGrp="1"/>
          </p:cNvSpPr>
          <p:nvPr/>
        </p:nvSpPr>
        <p:spPr>
          <a:xfrm>
            <a:off x="838200" y="4181475"/>
            <a:ext cx="9906000" cy="9525"/>
          </a:xfrm>
          <a:prstGeom prst="rect">
            <a:avLst/>
          </a:prstGeom>
          <a:solidFill>
            <a:srgbClr val="D8E0E6"/>
          </a:solidFill>
          <a:ln w="0">
            <a:solidFill>
              <a:srgbClr val="D8E0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D8FB5CE-812B-4059-B4E2-763A5CBF841B}"/>
              </a:ext>
            </a:extLst>
          </p:cNvPr>
          <p:cNvSpPr>
            <a:spLocks noGrp="1"/>
          </p:cNvSpPr>
          <p:nvPr/>
        </p:nvSpPr>
        <p:spPr>
          <a:xfrm>
            <a:off x="838200" y="4419600"/>
            <a:ext cx="10668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分工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51396B-E606-4F48-9044-242021FD1080}"/>
              </a:ext>
            </a:extLst>
          </p:cNvPr>
          <p:cNvSpPr>
            <a:spLocks noGrp="1"/>
          </p:cNvSpPr>
          <p:nvPr/>
        </p:nvSpPr>
        <p:spPr>
          <a:xfrm>
            <a:off x="2171700" y="4391025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43E"/>
                </a:solidFill>
                <a:latin typeface="Microsoft YaHei"/>
                <a:ea typeface="Microsoft YaHei"/>
                <a:cs typeface="Microsoft YaHei"/>
              </a:rPr>
              <a:t>成员—负责模块—具体工作—贡献自评，随初版分工表提交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0CBA53D-9106-46F8-8FF3-C4C9A293A1BF}"/>
              </a:ext>
            </a:extLst>
          </p:cNvPr>
          <p:cNvSpPr>
            <a:spLocks noGrp="1"/>
          </p:cNvSpPr>
          <p:nvPr/>
        </p:nvSpPr>
        <p:spPr>
          <a:xfrm>
            <a:off x="838200" y="5467350"/>
            <a:ext cx="904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4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模块边界：数据处理 / 数据挖掘 / 后端服务 / 前端可视化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B728A5B-63CC-44B9-BE0A-98BCD8189318}"/>
              </a:ext>
            </a:extLst>
          </p:cNvPr>
          <p:cNvSpPr>
            <a:spLocks noGrp="1"/>
          </p:cNvSpPr>
          <p:nvPr/>
        </p:nvSpPr>
        <p:spPr>
          <a:xfrm>
            <a:off x="838200" y="6010275"/>
            <a:ext cx="1009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defRPr sz="1125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9900"/>
                </a:solidFill>
                <a:latin typeface="Microsoft YaHei"/>
                <a:ea typeface="Microsoft YaHei"/>
                <a:cs typeface="Microsoft YaHei"/>
              </a:rPr>
              <a:t>NEXT · 存储建模 → 文本挖掘 → 业务接口 → 可视化联调</a:t>
            </a:r>
          </a:p>
        </p:txBody>
      </p:sp>
    </p:spTree>
    <p:extLst>
      <p:ext uri="{BB962C8B-B14F-4D97-AF65-F5344CB8AC3E}">
        <p14:creationId xmlns:p14="http://schemas.microsoft.com/office/powerpoint/2010/main" val="9245123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978</Words>
  <Application>Microsoft Office PowerPoint</Application>
  <DocSecurity>0</DocSecurity>
  <PresentationFormat>宽屏</PresentationFormat>
  <Paragraphs>220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ZHOUHAO WU</cp:lastModifiedBy>
  <cp:revision>1</cp:revision>
  <dcterms:created xsi:type="dcterms:W3CDTF">2026-09-03T08:54:26Z</dcterms:created>
  <dcterms:modified xsi:type="dcterms:W3CDTF">2026-09-03T08:59:49Z</dcterms:modified>
</cp:coreProperties>
</file>